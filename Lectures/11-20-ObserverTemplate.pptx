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8" r:id="rId2"/>
    <p:sldId id="287" r:id="rId3"/>
    <p:sldId id="290" r:id="rId4"/>
    <p:sldId id="291" r:id="rId5"/>
    <p:sldId id="293" r:id="rId6"/>
    <p:sldId id="289" r:id="rId7"/>
    <p:sldId id="29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3" autoAdjust="0"/>
    <p:restoredTop sz="94660"/>
  </p:normalViewPr>
  <p:slideViewPr>
    <p:cSldViewPr snapToGrid="0">
      <p:cViewPr varScale="1">
        <p:scale>
          <a:sx n="88" d="100"/>
          <a:sy n="88" d="100"/>
        </p:scale>
        <p:origin x="108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uce, Patricia" userId="63213659-433f-4003-8b64-f125efbf754c" providerId="ADAL" clId="{9F493DF5-B3DB-41BE-BD85-95E1787C9374}"/>
    <pc:docChg chg="delSld">
      <pc:chgData name="Duce, Patricia" userId="63213659-433f-4003-8b64-f125efbf754c" providerId="ADAL" clId="{9F493DF5-B3DB-41BE-BD85-95E1787C9374}" dt="2022-11-15T13:59:38.322" v="0" actId="2696"/>
      <pc:docMkLst>
        <pc:docMk/>
      </pc:docMkLst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709114427" sldId="257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438241826" sldId="258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495375424" sldId="259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3773433729" sldId="260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3507536678" sldId="261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3731138684" sldId="262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3667173648" sldId="263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1589568221" sldId="264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958914361" sldId="265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3491389965" sldId="266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2891103284" sldId="267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3462086150" sldId="268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2384515690" sldId="269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177701162" sldId="270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1317684432" sldId="271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4208722379" sldId="272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3308158094" sldId="273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2659831433" sldId="274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722358909" sldId="275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2528204737" sldId="276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1562468929" sldId="277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3748520846" sldId="278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1856468546" sldId="279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1939673191" sldId="280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1003640666" sldId="281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1337935775" sldId="282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714425473" sldId="283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3719617768" sldId="284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3310029863" sldId="285"/>
        </pc:sldMkLst>
      </pc:sldChg>
      <pc:sldChg chg="del">
        <pc:chgData name="Duce, Patricia" userId="63213659-433f-4003-8b64-f125efbf754c" providerId="ADAL" clId="{9F493DF5-B3DB-41BE-BD85-95E1787C9374}" dt="2022-11-15T13:59:38.322" v="0" actId="2696"/>
        <pc:sldMkLst>
          <pc:docMk/>
          <pc:sldMk cId="2397487814" sldId="286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55CF0A-AB96-4E5A-A1A4-7F6D3B5ADD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F1E06-3B9C-4A5D-BE1E-94C1FB5EDD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9FA791-3212-49C0-84DD-CD17D6E8B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805D9-1CEC-4F14-BC97-6DA185AF1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65440-9148-445E-B74E-322DAC1DC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531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5D33-4E66-4723-BBD6-F3A1B3610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71B7B-1D36-4C90-9145-693CAC815C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D42E2-0CD5-41A9-A48A-CC05CDFBB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98A1D9-1C77-43CC-9C55-282840980E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EA55DE-6428-4AD0-AC9C-87F8B8CC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2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427466-3D0D-4B07-B9AD-245631E05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5BC353-ADDF-4FE4-B30B-B8617B3F4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7A376E-FA81-410E-84EA-EF241AFCB3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B620D2-8800-4906-A5F8-44524325D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1CBC2-348C-41AF-9851-107AAE04B7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408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E09A8-475A-4D3C-AC92-F506FEA00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5A5208-EA34-4CD5-81CA-CC745D5E4A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95B64C-BEE3-429C-82C9-C0C2E0583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090564-7100-45C2-92D4-B4C3BF770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1A32E4-91F3-4746-BDA2-B86B8C0FF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9DF5BC-802E-4CDF-BA72-9DDE5D38FA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593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AFBB8-FB9A-4964-93C6-1F1C8FC7DA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1C669-1026-42F1-8439-530675C43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FF8E9C-8D32-4CE7-939B-428C4BDE23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AE86830-467B-4E4B-B9E6-6CFCA713EC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37C6809-D6AA-4895-BD7E-E7CF9D6681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99B641-0E4A-4F00-8DC9-086EC74E5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922559F-73F1-4BC3-B7DE-82042DCE27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1C8D0-7810-4FC3-B95B-96FA2005D5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698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A37C3-15C8-4C14-BFE4-879EAAFD38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91556-BB34-478F-B1B1-18A6CA9B3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EBCBB8-9857-42B7-9123-41E434A6D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3938EC-3451-4A58-AEA6-259F6930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54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866B79-3217-40DF-8F9D-7839255C1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B838158-5744-44B2-9E79-CB2E38EC8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64A1CA-491A-47FA-95BA-62CED07AD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3924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7B677-6CE9-4F8E-9A54-2F647FB25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1A38DD-70EE-4A0A-BDFF-EDA366C033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F99524-68F4-4628-9C4E-9BF167A86D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63D0E-99F2-43D6-9D96-D00D0A92B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34CDA7-FFCE-4BF1-A6F6-A8AF82E4F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198522-3680-4A4B-B5D1-E18713F2C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165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1C578-7D96-489C-B9BA-650DE07FF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3DDB53-1E04-4DCB-9D90-03CB0133157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35E40A-51C6-4F81-A1A8-F677F4F25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FCAC9-F1F6-4205-99CA-814A8E4C0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537688-8BD4-4299-BA11-88CF398F1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82F33-B521-458D-BAED-674BC64E2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787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1D321-15A0-4564-A739-03A2F6F62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32BE28-47E8-4E41-9825-5B3BF4BB89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28E8D-7F86-4B2A-8365-8877FCBBF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E40B27-2EE5-4C0B-A3EE-FD0043D05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0ACD41-8F26-4224-9EDD-61C6611D9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4987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A1C905-B224-46E4-AD85-C443CBE941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FE703A-192C-4C59-BB1A-FC070A3777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2D6A1C-702D-4643-BE99-C46650A9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E5C01B-6A85-4FE5-8CF4-FA9D629A0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0EFA7E-9F09-4383-BD35-FF3ADA0E8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5840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DE73F5-CC21-4EFE-8CD2-FEA9F34FE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DB7A79-88D8-4372-9448-04AFE75110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2EF0D4-70A7-46AF-92FF-B73FFA3EF1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F9FCE3-A250-4BE5-A163-05A258670958}" type="datetimeFigureOut">
              <a:rPr lang="en-US" smtClean="0"/>
              <a:t>11/15/2022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B130F9-7440-45F3-8230-C402A9382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9D9A5-BFD1-4BF2-8D59-8908E182C2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880606-945B-4910-82A0-A459871BB3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888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C686D5-0439-4048-A136-B5176400B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79379"/>
            <a:ext cx="10515600" cy="5797584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There are 3 classifications of design patterns.</a:t>
            </a: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Creational patterns</a:t>
            </a:r>
            <a:br>
              <a:rPr lang="en-US" b="1" i="0" dirty="0">
                <a:solidFill>
                  <a:srgbClr val="292929"/>
                </a:solidFill>
                <a:effectLst/>
                <a:latin typeface="charter"/>
              </a:rPr>
            </a:b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to provide object creation mechanisms that increase flexibility and reuse of existing code. Types: 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Abstract Factory, Builder, Factory Method, Object Pool, Prototype, Singleton.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Structural patterns</a:t>
            </a:r>
            <a:br>
              <a:rPr lang="en-US" b="1" i="0" dirty="0">
                <a:solidFill>
                  <a:srgbClr val="292929"/>
                </a:solidFill>
                <a:effectLst/>
                <a:latin typeface="charter"/>
              </a:rPr>
            </a:b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to explain how to assemble objects and classes into larger structures, while keeping the structures flexible and efficient. Types: 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Adapter, Bridge, Composite, Decorator, Facade, Flyweight, Private Class Data, Proxy.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pPr algn="l">
              <a:buFont typeface="+mj-lt"/>
              <a:buAutoNum type="arabicPeriod"/>
            </a:pPr>
            <a:r>
              <a:rPr lang="en-US" b="1" i="0" dirty="0">
                <a:solidFill>
                  <a:srgbClr val="292929"/>
                </a:solidFill>
                <a:effectLst/>
                <a:latin typeface="charter"/>
              </a:rPr>
              <a:t>Behavioral patterns</a:t>
            </a:r>
            <a:br>
              <a:rPr lang="en-US" b="1" i="0" dirty="0">
                <a:solidFill>
                  <a:srgbClr val="292929"/>
                </a:solidFill>
                <a:effectLst/>
                <a:latin typeface="charter"/>
              </a:rPr>
            </a:br>
            <a:r>
              <a:rPr lang="en-US" b="0" i="0" dirty="0">
                <a:solidFill>
                  <a:srgbClr val="292929"/>
                </a:solidFill>
                <a:effectLst/>
                <a:latin typeface="charter"/>
              </a:rPr>
              <a:t>to take care of effective communication and the assignment of responsibilities between objects. Types: </a:t>
            </a:r>
            <a:r>
              <a:rPr lang="en-US" b="0" i="1" dirty="0">
                <a:solidFill>
                  <a:srgbClr val="292929"/>
                </a:solidFill>
                <a:effectLst/>
                <a:latin typeface="charter"/>
              </a:rPr>
              <a:t>Chain of Responsibility, Command, Interpreter, Iterator, Mediator, Memento, Null Object, Observer, State, Strategy, Template Method, Visitor.</a:t>
            </a:r>
            <a:endParaRPr lang="en-US" b="0" i="0" dirty="0">
              <a:solidFill>
                <a:srgbClr val="292929"/>
              </a:solidFill>
              <a:effectLst/>
              <a:latin typeface="charter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41499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A8C-B016-4F80-B47E-1A66CA15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C87C0-40A7-4898-84FB-1D6B14A68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The </a:t>
            </a:r>
            <a:r>
              <a:rPr lang="en-US" b="1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Observer</a:t>
            </a: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 defines a </a:t>
            </a:r>
            <a:r>
              <a:rPr lang="en-US" b="1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one-to-many relationship </a:t>
            </a: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so that when one object changes state, the others are notified and updated automatically. </a:t>
            </a:r>
          </a:p>
          <a:p>
            <a:pPr marL="0" indent="0">
              <a:buNone/>
            </a:pPr>
            <a:endParaRPr lang="en-US" dirty="0">
              <a:solidFill>
                <a:srgbClr val="444444"/>
              </a:solidFill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4680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A8C-B016-4F80-B47E-1A66CA15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C87C0-40A7-4898-84FB-1D6B14A68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Social media helps us immensely in understanding the observer pattern. </a:t>
            </a:r>
          </a:p>
          <a:p>
            <a:pPr marL="0" indent="0">
              <a:buNone/>
            </a:pPr>
            <a:endParaRPr lang="en-US" dirty="0">
              <a:solidFill>
                <a:srgbClr val="444444"/>
              </a:solidFill>
              <a:latin typeface="PT Sans" panose="020B0503020203020204" pitchFamily="34" charset="0"/>
            </a:endParaRPr>
          </a:p>
          <a:p>
            <a:pPr marL="0" indent="0">
              <a:buNone/>
            </a:pP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If you are registered on Twitter then whenever you follow someone, you are essentially asking Twitter to send you (</a:t>
            </a:r>
            <a:r>
              <a:rPr lang="en-US" b="1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the observer</a:t>
            </a: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) tweet updates of the person (</a:t>
            </a:r>
            <a:r>
              <a:rPr lang="en-US" b="1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the subject</a:t>
            </a: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) you followed. The pattern consists of two actors, the observer who is interested in the updates and the subject who generates the updates.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0115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805A8C-B016-4F80-B47E-1A66CA154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9C87C0-40A7-4898-84FB-1D6B14A68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Going back to our aircraft example, we can say that any aircraft in flight would be interested in updates from the air-traffic controller.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We can imagine that an aircraft (</a:t>
            </a:r>
            <a:r>
              <a:rPr lang="en-US" b="1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observer</a:t>
            </a: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), as soon as, it is airborne would want to subscribe to updates from the air traffic (</a:t>
            </a:r>
            <a:r>
              <a:rPr lang="en-US" b="1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subject</a:t>
            </a: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) controller and unsubscribe when it lands.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82875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898E7-FEB8-4A81-B533-F0759B18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Template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024BB-7BD9-4B51-8F54-AE56B8BA4D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444444"/>
                </a:solidFill>
                <a:effectLst/>
                <a:latin typeface="PT Sans" panose="020B0503020203020204" pitchFamily="34" charset="0"/>
              </a:rPr>
              <a:t>The Template Method defines a skeleton of an algorithm in an operation, and defers some steps to subclasses. </a:t>
            </a:r>
          </a:p>
          <a:p>
            <a:pPr marL="0" indent="0">
              <a:buNone/>
            </a:pPr>
            <a:endParaRPr lang="en-US" dirty="0">
              <a:solidFill>
                <a:srgbClr val="444444"/>
              </a:solidFill>
              <a:latin typeface="PT Sans" panose="020B05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16101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B024BB-7BD9-4B51-8F54-AE56B8BA4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9833" y="646998"/>
            <a:ext cx="10515600" cy="5663779"/>
          </a:xfrm>
        </p:spPr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444444"/>
              </a:solidFill>
              <a:latin typeface="PT Sans" panose="020B0503020203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PT Sans" panose="020B0503020203020204" pitchFamily="34" charset="0"/>
              </a:rPr>
              <a:t>The implementation of template_method() is: call step_one(), call step_two(), and call step_three(). </a:t>
            </a:r>
          </a:p>
          <a:p>
            <a:pPr marL="0" indent="0">
              <a:buNone/>
            </a:pPr>
            <a:endParaRPr lang="en-US" dirty="0">
              <a:solidFill>
                <a:srgbClr val="444444"/>
              </a:solidFill>
              <a:latin typeface="PT Sans" panose="020B0503020203020204" pitchFamily="34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444444"/>
                </a:solidFill>
                <a:latin typeface="PT Sans" panose="020B0503020203020204" pitchFamily="34" charset="0"/>
              </a:rPr>
              <a:t>step_two() is a "hook" method – a placeholder. It is declared in the base class, and then defined in derived classes. </a:t>
            </a:r>
          </a:p>
        </p:txBody>
      </p:sp>
      <p:pic>
        <p:nvPicPr>
          <p:cNvPr id="1027" name="Picture 3" descr="Template Method scheme">
            <a:extLst>
              <a:ext uri="{FF2B5EF4-FFF2-40B4-BE49-F238E27FC236}">
                <a16:creationId xmlns:a16="http://schemas.microsoft.com/office/drawing/2014/main" id="{EE1D82E6-FB61-4913-9964-2EDABF9643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3073" y="3621242"/>
            <a:ext cx="3990975" cy="2447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4606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0E310-9FDE-49D0-802E-6F6D86A59F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352306"/>
            <a:ext cx="10524811" cy="5824658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Example: daily routine of a worker. </a:t>
            </a:r>
          </a:p>
        </p:txBody>
      </p:sp>
      <p:pic>
        <p:nvPicPr>
          <p:cNvPr id="2050" name="Picture 2" descr="Template Method example">
            <a:extLst>
              <a:ext uri="{FF2B5EF4-FFF2-40B4-BE49-F238E27FC236}">
                <a16:creationId xmlns:a16="http://schemas.microsoft.com/office/drawing/2014/main" id="{1435E247-0C59-45C7-86CF-AF843A2A1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98708" y="970157"/>
            <a:ext cx="5156174" cy="5306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002037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239</TotalTime>
  <Words>372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charter</vt:lpstr>
      <vt:lpstr>PT Sans</vt:lpstr>
      <vt:lpstr>Office Theme</vt:lpstr>
      <vt:lpstr>PowerPoint Presentation</vt:lpstr>
      <vt:lpstr>Observer</vt:lpstr>
      <vt:lpstr>Observer</vt:lpstr>
      <vt:lpstr>Observer</vt:lpstr>
      <vt:lpstr>Template Method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16 - Deployment</dc:title>
  <dc:creator>Duce, Patricia</dc:creator>
  <cp:lastModifiedBy>Duce, Patricia</cp:lastModifiedBy>
  <cp:revision>2</cp:revision>
  <dcterms:created xsi:type="dcterms:W3CDTF">2021-11-07T02:45:20Z</dcterms:created>
  <dcterms:modified xsi:type="dcterms:W3CDTF">2022-11-15T13:59:48Z</dcterms:modified>
</cp:coreProperties>
</file>