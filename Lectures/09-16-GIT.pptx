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71" r:id="rId3"/>
    <p:sldId id="273" r:id="rId4"/>
    <p:sldId id="272" r:id="rId5"/>
    <p:sldId id="276" r:id="rId6"/>
    <p:sldId id="277" r:id="rId7"/>
    <p:sldId id="278" r:id="rId8"/>
    <p:sldId id="279" r:id="rId9"/>
    <p:sldId id="280" r:id="rId10"/>
    <p:sldId id="281" r:id="rId11"/>
    <p:sldId id="282" r:id="rId12"/>
    <p:sldId id="283" r:id="rId13"/>
    <p:sldId id="284" r:id="rId14"/>
    <p:sldId id="333" r:id="rId15"/>
    <p:sldId id="285" r:id="rId16"/>
    <p:sldId id="291" r:id="rId17"/>
    <p:sldId id="287" r:id="rId18"/>
    <p:sldId id="293" r:id="rId19"/>
    <p:sldId id="290" r:id="rId20"/>
    <p:sldId id="294" r:id="rId21"/>
    <p:sldId id="295" r:id="rId22"/>
    <p:sldId id="296" r:id="rId23"/>
    <p:sldId id="297" r:id="rId24"/>
    <p:sldId id="317" r:id="rId25"/>
    <p:sldId id="312" r:id="rId26"/>
    <p:sldId id="298" r:id="rId27"/>
    <p:sldId id="299" r:id="rId28"/>
    <p:sldId id="300" r:id="rId29"/>
    <p:sldId id="301" r:id="rId30"/>
    <p:sldId id="302" r:id="rId31"/>
    <p:sldId id="322" r:id="rId32"/>
    <p:sldId id="292" r:id="rId33"/>
    <p:sldId id="323" r:id="rId34"/>
    <p:sldId id="324" r:id="rId35"/>
    <p:sldId id="325" r:id="rId36"/>
    <p:sldId id="326" r:id="rId37"/>
    <p:sldId id="327" r:id="rId38"/>
    <p:sldId id="328" r:id="rId39"/>
    <p:sldId id="329" r:id="rId40"/>
    <p:sldId id="330" r:id="rId41"/>
    <p:sldId id="331" r:id="rId42"/>
    <p:sldId id="332" r:id="rId43"/>
    <p:sldId id="320" r:id="rId44"/>
  </p:sldIdLst>
  <p:sldSz cx="12192000" cy="6858000"/>
  <p:notesSz cx="6954838" cy="92408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343" autoAdjust="0"/>
    <p:restoredTop sz="94660"/>
  </p:normalViewPr>
  <p:slideViewPr>
    <p:cSldViewPr snapToGrid="0">
      <p:cViewPr varScale="1">
        <p:scale>
          <a:sx n="90" d="100"/>
          <a:sy n="90" d="100"/>
        </p:scale>
        <p:origin x="9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uce, Patricia" userId="63213659-433f-4003-8b64-f125efbf754c" providerId="ADAL" clId="{2AA931FE-A337-49B2-AD73-ED9756B034BB}"/>
    <pc:docChg chg="undo custSel addSld delSld">
      <pc:chgData name="Duce, Patricia" userId="63213659-433f-4003-8b64-f125efbf754c" providerId="ADAL" clId="{2AA931FE-A337-49B2-AD73-ED9756B034BB}" dt="2023-09-14T01:06:05.089" v="3" actId="47"/>
      <pc:docMkLst>
        <pc:docMk/>
      </pc:docMkLst>
      <pc:sldChg chg="add del">
        <pc:chgData name="Duce, Patricia" userId="63213659-433f-4003-8b64-f125efbf754c" providerId="ADAL" clId="{2AA931FE-A337-49B2-AD73-ED9756B034BB}" dt="2023-09-14T01:06:05.089" v="3" actId="47"/>
        <pc:sldMkLst>
          <pc:docMk/>
          <pc:sldMk cId="992960048" sldId="295"/>
        </pc:sldMkLst>
      </pc:sldChg>
      <pc:sldChg chg="add del">
        <pc:chgData name="Duce, Patricia" userId="63213659-433f-4003-8b64-f125efbf754c" providerId="ADAL" clId="{2AA931FE-A337-49B2-AD73-ED9756B034BB}" dt="2023-09-14T01:06:03.270" v="2" actId="47"/>
        <pc:sldMkLst>
          <pc:docMk/>
          <pc:sldMk cId="571881624" sldId="296"/>
        </pc:sldMkLst>
      </pc:sldChg>
    </pc:docChg>
  </pc:docChgLst>
  <pc:docChgLst>
    <pc:chgData name="Duce, Patricia" userId="63213659-433f-4003-8b64-f125efbf754c" providerId="ADAL" clId="{491F6571-A90E-46BA-BD75-1D24E8BC7AFA}"/>
    <pc:docChg chg="delSld modSld">
      <pc:chgData name="Duce, Patricia" userId="63213659-433f-4003-8b64-f125efbf754c" providerId="ADAL" clId="{491F6571-A90E-46BA-BD75-1D24E8BC7AFA}" dt="2022-09-08T12:56:41.743" v="80" actId="47"/>
      <pc:docMkLst>
        <pc:docMk/>
      </pc:docMkLst>
      <pc:sldChg chg="modSp mod">
        <pc:chgData name="Duce, Patricia" userId="63213659-433f-4003-8b64-f125efbf754c" providerId="ADAL" clId="{491F6571-A90E-46BA-BD75-1D24E8BC7AFA}" dt="2022-09-08T12:39:20.245" v="48" actId="113"/>
        <pc:sldMkLst>
          <pc:docMk/>
          <pc:sldMk cId="158837143" sldId="280"/>
        </pc:sldMkLst>
        <pc:spChg chg="mod">
          <ac:chgData name="Duce, Patricia" userId="63213659-433f-4003-8b64-f125efbf754c" providerId="ADAL" clId="{491F6571-A90E-46BA-BD75-1D24E8BC7AFA}" dt="2022-09-08T12:39:20.245" v="48" actId="113"/>
          <ac:spMkLst>
            <pc:docMk/>
            <pc:sldMk cId="158837143" sldId="280"/>
            <ac:spMk id="4" creationId="{00000000-0000-0000-0000-000000000000}"/>
          </ac:spMkLst>
        </pc:spChg>
      </pc:sldChg>
      <pc:sldChg chg="delSp">
        <pc:chgData name="Duce, Patricia" userId="63213659-433f-4003-8b64-f125efbf754c" providerId="ADAL" clId="{491F6571-A90E-46BA-BD75-1D24E8BC7AFA}" dt="2021-09-15T03:10:17.130" v="18"/>
        <pc:sldMkLst>
          <pc:docMk/>
          <pc:sldMk cId="128383048" sldId="292"/>
        </pc:sldMkLst>
        <pc:picChg chg="del">
          <ac:chgData name="Duce, Patricia" userId="63213659-433f-4003-8b64-f125efbf754c" providerId="ADAL" clId="{491F6571-A90E-46BA-BD75-1D24E8BC7AFA}" dt="2021-09-15T03:10:17.130" v="18"/>
          <ac:picMkLst>
            <pc:docMk/>
            <pc:sldMk cId="128383048" sldId="292"/>
            <ac:picMk id="4" creationId="{93552D36-E48A-47BD-93F3-10B2FDFACC72}"/>
          </ac:picMkLst>
        </pc:picChg>
      </pc:sldChg>
      <pc:sldChg chg="modSp mod">
        <pc:chgData name="Duce, Patricia" userId="63213659-433f-4003-8b64-f125efbf754c" providerId="ADAL" clId="{491F6571-A90E-46BA-BD75-1D24E8BC7AFA}" dt="2021-09-13T13:02:59.512" v="0" actId="1076"/>
        <pc:sldMkLst>
          <pc:docMk/>
          <pc:sldMk cId="2817167904" sldId="297"/>
        </pc:sldMkLst>
        <pc:spChg chg="mod">
          <ac:chgData name="Duce, Patricia" userId="63213659-433f-4003-8b64-f125efbf754c" providerId="ADAL" clId="{491F6571-A90E-46BA-BD75-1D24E8BC7AFA}" dt="2021-09-13T13:02:59.512" v="0" actId="1076"/>
          <ac:spMkLst>
            <pc:docMk/>
            <pc:sldMk cId="2817167904" sldId="297"/>
            <ac:spMk id="4" creationId="{00000000-0000-0000-0000-000000000000}"/>
          </ac:spMkLst>
        </pc:spChg>
      </pc:sldChg>
      <pc:sldChg chg="modSp mod">
        <pc:chgData name="Duce, Patricia" userId="63213659-433f-4003-8b64-f125efbf754c" providerId="ADAL" clId="{491F6571-A90E-46BA-BD75-1D24E8BC7AFA}" dt="2022-09-08T12:54:48.371" v="79" actId="20577"/>
        <pc:sldMkLst>
          <pc:docMk/>
          <pc:sldMk cId="3797928901" sldId="298"/>
        </pc:sldMkLst>
        <pc:spChg chg="mod">
          <ac:chgData name="Duce, Patricia" userId="63213659-433f-4003-8b64-f125efbf754c" providerId="ADAL" clId="{491F6571-A90E-46BA-BD75-1D24E8BC7AFA}" dt="2022-09-08T12:54:48.371" v="79" actId="20577"/>
          <ac:spMkLst>
            <pc:docMk/>
            <pc:sldMk cId="3797928901" sldId="298"/>
            <ac:spMk id="4" creationId="{00000000-0000-0000-0000-000000000000}"/>
          </ac:spMkLst>
        </pc:spChg>
      </pc:sldChg>
      <pc:sldChg chg="modSp mod">
        <pc:chgData name="Duce, Patricia" userId="63213659-433f-4003-8b64-f125efbf754c" providerId="ADAL" clId="{491F6571-A90E-46BA-BD75-1D24E8BC7AFA}" dt="2021-09-13T13:09:53.617" v="17"/>
        <pc:sldMkLst>
          <pc:docMk/>
          <pc:sldMk cId="4040305029" sldId="300"/>
        </pc:sldMkLst>
        <pc:spChg chg="mod">
          <ac:chgData name="Duce, Patricia" userId="63213659-433f-4003-8b64-f125efbf754c" providerId="ADAL" clId="{491F6571-A90E-46BA-BD75-1D24E8BC7AFA}" dt="2021-09-13T13:09:53.617" v="17"/>
          <ac:spMkLst>
            <pc:docMk/>
            <pc:sldMk cId="4040305029" sldId="300"/>
            <ac:spMk id="3" creationId="{00000000-0000-0000-0000-000000000000}"/>
          </ac:spMkLst>
        </pc:spChg>
      </pc:sldChg>
      <pc:sldChg chg="del">
        <pc:chgData name="Duce, Patricia" userId="63213659-433f-4003-8b64-f125efbf754c" providerId="ADAL" clId="{491F6571-A90E-46BA-BD75-1D24E8BC7AFA}" dt="2022-09-08T12:56:41.743" v="80" actId="47"/>
        <pc:sldMkLst>
          <pc:docMk/>
          <pc:sldMk cId="1771737547" sldId="303"/>
        </pc:sldMkLst>
      </pc:sldChg>
      <pc:sldChg chg="modSp mod">
        <pc:chgData name="Duce, Patricia" userId="63213659-433f-4003-8b64-f125efbf754c" providerId="ADAL" clId="{491F6571-A90E-46BA-BD75-1D24E8BC7AFA}" dt="2022-09-08T12:52:35.032" v="52" actId="20577"/>
        <pc:sldMkLst>
          <pc:docMk/>
          <pc:sldMk cId="1405220414" sldId="317"/>
        </pc:sldMkLst>
        <pc:spChg chg="mod">
          <ac:chgData name="Duce, Patricia" userId="63213659-433f-4003-8b64-f125efbf754c" providerId="ADAL" clId="{491F6571-A90E-46BA-BD75-1D24E8BC7AFA}" dt="2022-09-08T12:52:35.032" v="52" actId="20577"/>
          <ac:spMkLst>
            <pc:docMk/>
            <pc:sldMk cId="1405220414" sldId="317"/>
            <ac:spMk id="4" creationId="{00000000-0000-0000-0000-000000000000}"/>
          </ac:spMkLst>
        </pc:spChg>
      </pc:sldChg>
    </pc:docChg>
  </pc:docChgLst>
  <pc:docChgLst>
    <pc:chgData name="Duce, Patricia" userId="63213659-433f-4003-8b64-f125efbf754c" providerId="ADAL" clId="{B6397C84-E242-42CF-BB90-EB27F0B37F50}"/>
    <pc:docChg chg="modSld sldOrd">
      <pc:chgData name="Duce, Patricia" userId="63213659-433f-4003-8b64-f125efbf754c" providerId="ADAL" clId="{B6397C84-E242-42CF-BB90-EB27F0B37F50}" dt="2021-09-13T19:37:17.065" v="6"/>
      <pc:docMkLst>
        <pc:docMk/>
      </pc:docMkLst>
      <pc:sldChg chg="modSp mod">
        <pc:chgData name="Duce, Patricia" userId="63213659-433f-4003-8b64-f125efbf754c" providerId="ADAL" clId="{B6397C84-E242-42CF-BB90-EB27F0B37F50}" dt="2021-09-13T19:34:17.284" v="4" actId="20577"/>
        <pc:sldMkLst>
          <pc:docMk/>
          <pc:sldMk cId="3950629183" sldId="290"/>
        </pc:sldMkLst>
        <pc:spChg chg="mod">
          <ac:chgData name="Duce, Patricia" userId="63213659-433f-4003-8b64-f125efbf754c" providerId="ADAL" clId="{B6397C84-E242-42CF-BB90-EB27F0B37F50}" dt="2021-09-13T19:34:17.284" v="4" actId="20577"/>
          <ac:spMkLst>
            <pc:docMk/>
            <pc:sldMk cId="3950629183" sldId="290"/>
            <ac:spMk id="3" creationId="{00000000-0000-0000-0000-000000000000}"/>
          </ac:spMkLst>
        </pc:spChg>
      </pc:sldChg>
      <pc:sldChg chg="ord">
        <pc:chgData name="Duce, Patricia" userId="63213659-433f-4003-8b64-f125efbf754c" providerId="ADAL" clId="{B6397C84-E242-42CF-BB90-EB27F0B37F50}" dt="2021-09-13T19:37:17.065" v="6"/>
        <pc:sldMkLst>
          <pc:docMk/>
          <pc:sldMk cId="3152887208" sldId="312"/>
        </pc:sldMkLst>
      </pc:sldChg>
    </pc:docChg>
  </pc:docChgLst>
  <pc:docChgLst>
    <pc:chgData name="Duce, Patricia" userId="63213659-433f-4003-8b64-f125efbf754c" providerId="ADAL" clId="{943E5951-149A-4D7A-9B9B-4C0ADB4DB52D}"/>
    <pc:docChg chg="custSel addSld modSld">
      <pc:chgData name="Duce, Patricia" userId="63213659-433f-4003-8b64-f125efbf754c" providerId="ADAL" clId="{943E5951-149A-4D7A-9B9B-4C0ADB4DB52D}" dt="2024-09-12T17:51:08.583" v="256" actId="20577"/>
      <pc:docMkLst>
        <pc:docMk/>
      </pc:docMkLst>
      <pc:sldChg chg="modSp mod">
        <pc:chgData name="Duce, Patricia" userId="63213659-433f-4003-8b64-f125efbf754c" providerId="ADAL" clId="{943E5951-149A-4D7A-9B9B-4C0ADB4DB52D}" dt="2024-09-11T23:37:11.799" v="0" actId="113"/>
        <pc:sldMkLst>
          <pc:docMk/>
          <pc:sldMk cId="158837143" sldId="280"/>
        </pc:sldMkLst>
        <pc:spChg chg="mod">
          <ac:chgData name="Duce, Patricia" userId="63213659-433f-4003-8b64-f125efbf754c" providerId="ADAL" clId="{943E5951-149A-4D7A-9B9B-4C0ADB4DB52D}" dt="2024-09-11T23:37:11.799" v="0" actId="113"/>
          <ac:spMkLst>
            <pc:docMk/>
            <pc:sldMk cId="158837143" sldId="280"/>
            <ac:spMk id="4" creationId="{00000000-0000-0000-0000-000000000000}"/>
          </ac:spMkLst>
        </pc:spChg>
      </pc:sldChg>
      <pc:sldChg chg="modSp mod">
        <pc:chgData name="Duce, Patricia" userId="63213659-433f-4003-8b64-f125efbf754c" providerId="ADAL" clId="{943E5951-149A-4D7A-9B9B-4C0ADB4DB52D}" dt="2024-09-12T17:49:57.194" v="130" actId="27636"/>
        <pc:sldMkLst>
          <pc:docMk/>
          <pc:sldMk cId="4136733082" sldId="282"/>
        </pc:sldMkLst>
        <pc:spChg chg="mod">
          <ac:chgData name="Duce, Patricia" userId="63213659-433f-4003-8b64-f125efbf754c" providerId="ADAL" clId="{943E5951-149A-4D7A-9B9B-4C0ADB4DB52D}" dt="2024-09-12T17:49:57.194" v="130" actId="27636"/>
          <ac:spMkLst>
            <pc:docMk/>
            <pc:sldMk cId="4136733082" sldId="282"/>
            <ac:spMk id="3" creationId="{00000000-0000-0000-0000-000000000000}"/>
          </ac:spMkLst>
        </pc:spChg>
      </pc:sldChg>
      <pc:sldChg chg="delSp modSp new mod">
        <pc:chgData name="Duce, Patricia" userId="63213659-433f-4003-8b64-f125efbf754c" providerId="ADAL" clId="{943E5951-149A-4D7A-9B9B-4C0ADB4DB52D}" dt="2024-09-12T17:51:08.583" v="256" actId="20577"/>
        <pc:sldMkLst>
          <pc:docMk/>
          <pc:sldMk cId="2303802109" sldId="333"/>
        </pc:sldMkLst>
        <pc:spChg chg="del">
          <ac:chgData name="Duce, Patricia" userId="63213659-433f-4003-8b64-f125efbf754c" providerId="ADAL" clId="{943E5951-149A-4D7A-9B9B-4C0ADB4DB52D}" dt="2024-09-12T17:50:19.497" v="132" actId="478"/>
          <ac:spMkLst>
            <pc:docMk/>
            <pc:sldMk cId="2303802109" sldId="333"/>
            <ac:spMk id="2" creationId="{6E342645-B94C-B5F9-ADE3-62CE25733921}"/>
          </ac:spMkLst>
        </pc:spChg>
        <pc:spChg chg="mod">
          <ac:chgData name="Duce, Patricia" userId="63213659-433f-4003-8b64-f125efbf754c" providerId="ADAL" clId="{943E5951-149A-4D7A-9B9B-4C0ADB4DB52D}" dt="2024-09-12T17:51:08.583" v="256" actId="20577"/>
          <ac:spMkLst>
            <pc:docMk/>
            <pc:sldMk cId="2303802109" sldId="333"/>
            <ac:spMk id="3" creationId="{E703D974-FB79-8ECC-8689-15198CA81A14}"/>
          </ac:spMkLst>
        </pc:spChg>
        <pc:spChg chg="del">
          <ac:chgData name="Duce, Patricia" userId="63213659-433f-4003-8b64-f125efbf754c" providerId="ADAL" clId="{943E5951-149A-4D7A-9B9B-4C0ADB4DB52D}" dt="2024-09-12T17:50:20.805" v="133" actId="478"/>
          <ac:spMkLst>
            <pc:docMk/>
            <pc:sldMk cId="2303802109" sldId="333"/>
            <ac:spMk id="4" creationId="{3FAD6420-EC53-5961-43E1-2B0EE91810A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585AAEC-9DD3-40BD-B438-300564CEA531}" type="datetimeFigureOut">
              <a:rPr lang="en-US" smtClean="0"/>
              <a:t>9/12/2024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D9181A-4172-4827-AA67-4344B86D5C14}" type="slidenum">
              <a:rPr lang="en-US" smtClean="0"/>
              <a:t>‹#›</a:t>
            </a:fld>
            <a:endParaRPr lang="en-US"/>
          </a:p>
        </p:txBody>
      </p:sp>
    </p:spTree>
    <p:extLst>
      <p:ext uri="{BB962C8B-B14F-4D97-AF65-F5344CB8AC3E}">
        <p14:creationId xmlns:p14="http://schemas.microsoft.com/office/powerpoint/2010/main" val="31562791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585AAEC-9DD3-40BD-B438-300564CEA531}" type="datetimeFigureOut">
              <a:rPr lang="en-US" smtClean="0"/>
              <a:t>9/12/2024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D9181A-4172-4827-AA67-4344B86D5C14}" type="slidenum">
              <a:rPr lang="en-US" smtClean="0"/>
              <a:t>‹#›</a:t>
            </a:fld>
            <a:endParaRPr lang="en-US"/>
          </a:p>
        </p:txBody>
      </p:sp>
    </p:spTree>
    <p:extLst>
      <p:ext uri="{BB962C8B-B14F-4D97-AF65-F5344CB8AC3E}">
        <p14:creationId xmlns:p14="http://schemas.microsoft.com/office/powerpoint/2010/main" val="18341085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85AAEC-9DD3-40BD-B438-300564CEA531}" type="datetimeFigureOut">
              <a:rPr lang="en-US" smtClean="0"/>
              <a:t>9/12/2024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D9181A-4172-4827-AA67-4344B86D5C14}" type="slidenum">
              <a:rPr lang="en-US" smtClean="0"/>
              <a:t>‹#›</a:t>
            </a:fld>
            <a:endParaRPr lang="en-US"/>
          </a:p>
        </p:txBody>
      </p:sp>
    </p:spTree>
    <p:extLst>
      <p:ext uri="{BB962C8B-B14F-4D97-AF65-F5344CB8AC3E}">
        <p14:creationId xmlns:p14="http://schemas.microsoft.com/office/powerpoint/2010/main" val="4980078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585AAEC-9DD3-40BD-B438-300564CEA531}" type="datetimeFigureOut">
              <a:rPr lang="en-US" smtClean="0"/>
              <a:t>9/12/2024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D9181A-4172-4827-AA67-4344B86D5C14}" type="slidenum">
              <a:rPr lang="en-US" smtClean="0"/>
              <a:t>‹#›</a:t>
            </a:fld>
            <a:endParaRPr lang="en-US"/>
          </a:p>
        </p:txBody>
      </p:sp>
    </p:spTree>
    <p:extLst>
      <p:ext uri="{BB962C8B-B14F-4D97-AF65-F5344CB8AC3E}">
        <p14:creationId xmlns:p14="http://schemas.microsoft.com/office/powerpoint/2010/main" val="2465741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585AAEC-9DD3-40BD-B438-300564CEA531}" type="datetimeFigureOut">
              <a:rPr lang="en-US" smtClean="0"/>
              <a:t>9/12/2024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9D9181A-4172-4827-AA67-4344B86D5C14}" type="slidenum">
              <a:rPr lang="en-US" smtClean="0"/>
              <a:t>‹#›</a:t>
            </a:fld>
            <a:endParaRPr lang="en-US"/>
          </a:p>
        </p:txBody>
      </p:sp>
    </p:spTree>
    <p:extLst>
      <p:ext uri="{BB962C8B-B14F-4D97-AF65-F5344CB8AC3E}">
        <p14:creationId xmlns:p14="http://schemas.microsoft.com/office/powerpoint/2010/main" val="7584865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585AAEC-9DD3-40BD-B438-300564CEA531}" type="datetimeFigureOut">
              <a:rPr lang="en-US" smtClean="0"/>
              <a:t>9/12/2024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9D9181A-4172-4827-AA67-4344B86D5C14}" type="slidenum">
              <a:rPr lang="en-US" smtClean="0"/>
              <a:t>‹#›</a:t>
            </a:fld>
            <a:endParaRPr lang="en-US"/>
          </a:p>
        </p:txBody>
      </p:sp>
    </p:spTree>
    <p:extLst>
      <p:ext uri="{BB962C8B-B14F-4D97-AF65-F5344CB8AC3E}">
        <p14:creationId xmlns:p14="http://schemas.microsoft.com/office/powerpoint/2010/main" val="7099918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85AAEC-9DD3-40BD-B438-300564CEA531}" type="datetimeFigureOut">
              <a:rPr lang="en-US" smtClean="0"/>
              <a:t>9/12/2024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9D9181A-4172-4827-AA67-4344B86D5C14}" type="slidenum">
              <a:rPr lang="en-US" smtClean="0"/>
              <a:t>‹#›</a:t>
            </a:fld>
            <a:endParaRPr lang="en-US"/>
          </a:p>
        </p:txBody>
      </p:sp>
    </p:spTree>
    <p:extLst>
      <p:ext uri="{BB962C8B-B14F-4D97-AF65-F5344CB8AC3E}">
        <p14:creationId xmlns:p14="http://schemas.microsoft.com/office/powerpoint/2010/main" val="236678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585AAEC-9DD3-40BD-B438-300564CEA531}" type="datetimeFigureOut">
              <a:rPr lang="en-US" smtClean="0"/>
              <a:t>9/12/2024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D9181A-4172-4827-AA67-4344B86D5C14}" type="slidenum">
              <a:rPr lang="en-US" smtClean="0"/>
              <a:t>‹#›</a:t>
            </a:fld>
            <a:endParaRPr lang="en-US"/>
          </a:p>
        </p:txBody>
      </p:sp>
    </p:spTree>
    <p:extLst>
      <p:ext uri="{BB962C8B-B14F-4D97-AF65-F5344CB8AC3E}">
        <p14:creationId xmlns:p14="http://schemas.microsoft.com/office/powerpoint/2010/main" val="17319024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585AAEC-9DD3-40BD-B438-300564CEA531}" type="datetimeFigureOut">
              <a:rPr lang="en-US" smtClean="0"/>
              <a:t>9/12/2024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D9181A-4172-4827-AA67-4344B86D5C14}" type="slidenum">
              <a:rPr lang="en-US" smtClean="0"/>
              <a:t>‹#›</a:t>
            </a:fld>
            <a:endParaRPr lang="en-US"/>
          </a:p>
        </p:txBody>
      </p:sp>
    </p:spTree>
    <p:extLst>
      <p:ext uri="{BB962C8B-B14F-4D97-AF65-F5344CB8AC3E}">
        <p14:creationId xmlns:p14="http://schemas.microsoft.com/office/powerpoint/2010/main" val="19911022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585AAEC-9DD3-40BD-B438-300564CEA531}" type="datetimeFigureOut">
              <a:rPr lang="en-US" smtClean="0"/>
              <a:t>9/12/2024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D9181A-4172-4827-AA67-4344B86D5C14}" type="slidenum">
              <a:rPr lang="en-US" smtClean="0"/>
              <a:t>‹#›</a:t>
            </a:fld>
            <a:endParaRPr lang="en-US"/>
          </a:p>
        </p:txBody>
      </p:sp>
    </p:spTree>
    <p:extLst>
      <p:ext uri="{BB962C8B-B14F-4D97-AF65-F5344CB8AC3E}">
        <p14:creationId xmlns:p14="http://schemas.microsoft.com/office/powerpoint/2010/main" val="2256602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585AAEC-9DD3-40BD-B438-300564CEA531}" type="datetimeFigureOut">
              <a:rPr lang="en-US" smtClean="0"/>
              <a:t>9/12/2024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D9181A-4172-4827-AA67-4344B86D5C14}" type="slidenum">
              <a:rPr lang="en-US" smtClean="0"/>
              <a:t>‹#›</a:t>
            </a:fld>
            <a:endParaRPr lang="en-US"/>
          </a:p>
        </p:txBody>
      </p:sp>
    </p:spTree>
    <p:extLst>
      <p:ext uri="{BB962C8B-B14F-4D97-AF65-F5344CB8AC3E}">
        <p14:creationId xmlns:p14="http://schemas.microsoft.com/office/powerpoint/2010/main" val="14536581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85AAEC-9DD3-40BD-B438-300564CEA531}" type="datetimeFigureOut">
              <a:rPr lang="en-US" smtClean="0"/>
              <a:t>9/12/2024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D9181A-4172-4827-AA67-4344B86D5C14}" type="slidenum">
              <a:rPr lang="en-US" smtClean="0"/>
              <a:t>‹#›</a:t>
            </a:fld>
            <a:endParaRPr lang="en-US"/>
          </a:p>
        </p:txBody>
      </p:sp>
    </p:spTree>
    <p:extLst>
      <p:ext uri="{BB962C8B-B14F-4D97-AF65-F5344CB8AC3E}">
        <p14:creationId xmlns:p14="http://schemas.microsoft.com/office/powerpoint/2010/main" val="9171521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hyperlink" Target="https://git-scm.com/book/en/v2/Getting-Started-Installing-Git"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hyperlink" Target="https://desktop.github.com/"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615497"/>
            <a:ext cx="10515600" cy="1325563"/>
          </a:xfrm>
        </p:spPr>
        <p:txBody>
          <a:bodyPr/>
          <a:lstStyle/>
          <a:p>
            <a:r>
              <a:rPr lang="en-US" b="1" dirty="0"/>
              <a:t>Version Control </a:t>
            </a:r>
            <a:br>
              <a:rPr lang="en-US" dirty="0"/>
            </a:br>
            <a:endParaRPr lang="en-US" dirty="0"/>
          </a:p>
        </p:txBody>
      </p:sp>
      <p:sp>
        <p:nvSpPr>
          <p:cNvPr id="3" name="Content Placeholder 2"/>
          <p:cNvSpPr>
            <a:spLocks noGrp="1"/>
          </p:cNvSpPr>
          <p:nvPr>
            <p:ph idx="1"/>
          </p:nvPr>
        </p:nvSpPr>
        <p:spPr/>
        <p:txBody>
          <a:bodyPr>
            <a:normAutofit/>
          </a:bodyPr>
          <a:lstStyle/>
          <a:p>
            <a:pPr marL="0" indent="0">
              <a:buNone/>
            </a:pPr>
            <a:r>
              <a:rPr lang="en-US" sz="2600" b="1" dirty="0"/>
              <a:t>Version control </a:t>
            </a:r>
            <a:r>
              <a:rPr lang="en-US" sz="2600" dirty="0"/>
              <a:t>is a system that records changes to a file or set of files over time so that you can recall specific versions later.  </a:t>
            </a:r>
          </a:p>
          <a:p>
            <a:pPr marL="0" indent="0">
              <a:buNone/>
            </a:pPr>
            <a:endParaRPr lang="en-US" sz="2600" dirty="0"/>
          </a:p>
          <a:p>
            <a:pPr marL="0" indent="0">
              <a:buNone/>
            </a:pPr>
            <a:r>
              <a:rPr lang="en-US" sz="2600" dirty="0"/>
              <a:t>Software source code is an example of a file you may want to version control, however you can do this with nearly and type of file on a computer. </a:t>
            </a:r>
            <a:br>
              <a:rPr lang="en-US" dirty="0"/>
            </a:br>
            <a:endParaRPr lang="en-US" dirty="0"/>
          </a:p>
        </p:txBody>
      </p:sp>
      <p:sp>
        <p:nvSpPr>
          <p:cNvPr id="4" name="Footer Placeholder 4"/>
          <p:cNvSpPr>
            <a:spLocks noGrp="1"/>
          </p:cNvSpPr>
          <p:nvPr>
            <p:ph type="ftr" sz="quarter" idx="10"/>
          </p:nvPr>
        </p:nvSpPr>
        <p:spPr>
          <a:xfrm>
            <a:off x="4560849" y="6311900"/>
            <a:ext cx="3510775" cy="365125"/>
          </a:xfrm>
        </p:spPr>
        <p:txBody>
          <a:bodyPr/>
          <a:lstStyle/>
          <a:p>
            <a:r>
              <a:rPr lang="en-US" dirty="0"/>
              <a:t>Pro </a:t>
            </a:r>
            <a:r>
              <a:rPr lang="en-US" dirty="0" err="1"/>
              <a:t>Git</a:t>
            </a:r>
            <a:r>
              <a:rPr lang="en-US" dirty="0"/>
              <a:t> Book – Scott Chacon and Ben Straub</a:t>
            </a:r>
          </a:p>
          <a:p>
            <a:endParaRPr lang="en-US" dirty="0"/>
          </a:p>
        </p:txBody>
      </p:sp>
    </p:spTree>
    <p:extLst>
      <p:ext uri="{BB962C8B-B14F-4D97-AF65-F5344CB8AC3E}">
        <p14:creationId xmlns:p14="http://schemas.microsoft.com/office/powerpoint/2010/main" val="26850907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GIT</a:t>
            </a:r>
          </a:p>
        </p:txBody>
      </p:sp>
      <p:sp>
        <p:nvSpPr>
          <p:cNvPr id="3" name="Content Placeholder 2"/>
          <p:cNvSpPr>
            <a:spLocks noGrp="1"/>
          </p:cNvSpPr>
          <p:nvPr>
            <p:ph idx="1"/>
          </p:nvPr>
        </p:nvSpPr>
        <p:spPr/>
        <p:txBody>
          <a:bodyPr>
            <a:normAutofit lnSpcReduction="10000"/>
          </a:bodyPr>
          <a:lstStyle/>
          <a:p>
            <a:pPr marL="0" indent="0">
              <a:buNone/>
            </a:pPr>
            <a:r>
              <a:rPr lang="en-US" sz="3700" dirty="0"/>
              <a:t>Free and Open Source Version Control Tool</a:t>
            </a:r>
          </a:p>
          <a:p>
            <a:r>
              <a:rPr lang="en-US" sz="2600" dirty="0"/>
              <a:t>Allows you to revert files back to a previous state</a:t>
            </a:r>
          </a:p>
          <a:p>
            <a:r>
              <a:rPr lang="en-US" sz="2600" dirty="0"/>
              <a:t>Revert the entire project back to a previous state</a:t>
            </a:r>
          </a:p>
          <a:p>
            <a:r>
              <a:rPr lang="en-US" sz="2600" dirty="0"/>
              <a:t>Compare changes over time</a:t>
            </a:r>
          </a:p>
          <a:p>
            <a:r>
              <a:rPr lang="en-US" sz="2600" dirty="0"/>
              <a:t>See who last modified something that might be causing a problem </a:t>
            </a:r>
          </a:p>
          <a:p>
            <a:pPr marL="0" indent="0">
              <a:buNone/>
            </a:pPr>
            <a:r>
              <a:rPr lang="en-US" sz="2600" dirty="0"/>
              <a:t> </a:t>
            </a:r>
          </a:p>
          <a:p>
            <a:pPr marL="0" indent="0">
              <a:buNone/>
            </a:pPr>
            <a:r>
              <a:rPr lang="en-US" sz="3200" dirty="0"/>
              <a:t>Generally means if you screw things up or lose files, you can easily recover</a:t>
            </a:r>
            <a:br>
              <a:rPr lang="en-US" dirty="0"/>
            </a:br>
            <a:endParaRPr lang="en-US" dirty="0"/>
          </a:p>
        </p:txBody>
      </p:sp>
      <p:sp>
        <p:nvSpPr>
          <p:cNvPr id="4" name="Footer Placeholder 4"/>
          <p:cNvSpPr>
            <a:spLocks noGrp="1"/>
          </p:cNvSpPr>
          <p:nvPr>
            <p:ph type="ftr" sz="quarter" idx="10"/>
          </p:nvPr>
        </p:nvSpPr>
        <p:spPr>
          <a:xfrm>
            <a:off x="4560849" y="6311900"/>
            <a:ext cx="3510775" cy="365125"/>
          </a:xfrm>
        </p:spPr>
        <p:txBody>
          <a:bodyPr/>
          <a:lstStyle/>
          <a:p>
            <a:r>
              <a:rPr lang="en-US" dirty="0"/>
              <a:t>Pro </a:t>
            </a:r>
            <a:r>
              <a:rPr lang="en-US" dirty="0" err="1"/>
              <a:t>Git</a:t>
            </a:r>
            <a:r>
              <a:rPr lang="en-US" dirty="0"/>
              <a:t> Book – Scott Chacon and Ben Straub</a:t>
            </a:r>
          </a:p>
          <a:p>
            <a:endParaRPr lang="en-US" dirty="0"/>
          </a:p>
        </p:txBody>
      </p:sp>
    </p:spTree>
    <p:extLst>
      <p:ext uri="{BB962C8B-B14F-4D97-AF65-F5344CB8AC3E}">
        <p14:creationId xmlns:p14="http://schemas.microsoft.com/office/powerpoint/2010/main" val="314253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282700"/>
          </a:xfrm>
        </p:spPr>
        <p:txBody>
          <a:bodyPr>
            <a:normAutofit fontScale="90000"/>
          </a:bodyPr>
          <a:lstStyle/>
          <a:p>
            <a:r>
              <a:rPr lang="en-US" b="1" dirty="0"/>
              <a:t>GIT – Distributed Version Control System</a:t>
            </a:r>
            <a:br>
              <a:rPr lang="en-US" dirty="0"/>
            </a:br>
            <a:endParaRPr lang="en-US" dirty="0"/>
          </a:p>
        </p:txBody>
      </p:sp>
      <p:sp>
        <p:nvSpPr>
          <p:cNvPr id="4" name="Text Placeholder 3"/>
          <p:cNvSpPr>
            <a:spLocks noGrp="1"/>
          </p:cNvSpPr>
          <p:nvPr>
            <p:ph type="body" sz="half" idx="2"/>
          </p:nvPr>
        </p:nvSpPr>
        <p:spPr>
          <a:xfrm>
            <a:off x="839787" y="1739900"/>
            <a:ext cx="4885764" cy="3811588"/>
          </a:xfrm>
        </p:spPr>
        <p:txBody>
          <a:bodyPr>
            <a:normAutofit/>
          </a:bodyPr>
          <a:lstStyle/>
          <a:p>
            <a:r>
              <a:rPr lang="en-US" sz="2400" dirty="0"/>
              <a:t>Clients don’t just check out the latest snapshot of the files: they fully mirror the repository.  Every clone is really a full backup of all the data.  If the server dies, any client repositories can be copied back up to the server to restore it. </a:t>
            </a:r>
          </a:p>
        </p:txBody>
      </p:sp>
      <p:pic>
        <p:nvPicPr>
          <p:cNvPr id="5" name="Content Placeholder 4"/>
          <p:cNvPicPr>
            <a:picLocks noGrp="1"/>
          </p:cNvPicPr>
          <p:nvPr>
            <p:ph idx="1"/>
          </p:nvPr>
        </p:nvPicPr>
        <p:blipFill rotWithShape="1">
          <a:blip r:embed="rId2"/>
          <a:srcRect l="39583" t="23076" r="29166" b="12536"/>
          <a:stretch/>
        </p:blipFill>
        <p:spPr bwMode="auto">
          <a:xfrm>
            <a:off x="5725551" y="261156"/>
            <a:ext cx="5054309" cy="5607832"/>
          </a:xfrm>
          <a:prstGeom prst="rect">
            <a:avLst/>
          </a:prstGeom>
          <a:ln>
            <a:noFill/>
          </a:ln>
          <a:extLst>
            <a:ext uri="{53640926-AAD7-44D8-BBD7-CCE9431645EC}">
              <a14:shadowObscured xmlns:a14="http://schemas.microsoft.com/office/drawing/2010/main"/>
            </a:ext>
          </a:extLst>
        </p:spPr>
      </p:pic>
      <p:sp>
        <p:nvSpPr>
          <p:cNvPr id="6" name="Footer Placeholder 4"/>
          <p:cNvSpPr>
            <a:spLocks noGrp="1"/>
          </p:cNvSpPr>
          <p:nvPr>
            <p:ph type="ftr" sz="quarter" idx="10"/>
          </p:nvPr>
        </p:nvSpPr>
        <p:spPr>
          <a:xfrm>
            <a:off x="4560849" y="6311900"/>
            <a:ext cx="3510775" cy="365125"/>
          </a:xfrm>
        </p:spPr>
        <p:txBody>
          <a:bodyPr/>
          <a:lstStyle/>
          <a:p>
            <a:r>
              <a:rPr lang="en-US" dirty="0"/>
              <a:t>Pro </a:t>
            </a:r>
            <a:r>
              <a:rPr lang="en-US" dirty="0" err="1"/>
              <a:t>Git</a:t>
            </a:r>
            <a:r>
              <a:rPr lang="en-US" dirty="0"/>
              <a:t> Book – Scott Chacon and Ben Straub</a:t>
            </a:r>
          </a:p>
          <a:p>
            <a:endParaRPr lang="en-US" dirty="0"/>
          </a:p>
        </p:txBody>
      </p:sp>
    </p:spTree>
    <p:extLst>
      <p:ext uri="{BB962C8B-B14F-4D97-AF65-F5344CB8AC3E}">
        <p14:creationId xmlns:p14="http://schemas.microsoft.com/office/powerpoint/2010/main" val="2566093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Install GIT</a:t>
            </a:r>
          </a:p>
        </p:txBody>
      </p:sp>
      <p:sp>
        <p:nvSpPr>
          <p:cNvPr id="3" name="Content Placeholder 2"/>
          <p:cNvSpPr>
            <a:spLocks noGrp="1"/>
          </p:cNvSpPr>
          <p:nvPr>
            <p:ph idx="1"/>
          </p:nvPr>
        </p:nvSpPr>
        <p:spPr/>
        <p:txBody>
          <a:bodyPr>
            <a:normAutofit/>
          </a:bodyPr>
          <a:lstStyle/>
          <a:p>
            <a:pPr marL="0" indent="0">
              <a:buNone/>
            </a:pPr>
            <a:r>
              <a:rPr lang="en-US" sz="2600" dirty="0">
                <a:hlinkClick r:id="rId2"/>
              </a:rPr>
              <a:t>https://git-scm.com/book/en/v2/Getting-Started-Installing-Git</a:t>
            </a:r>
            <a:endParaRPr lang="en-US" sz="2600" dirty="0"/>
          </a:p>
          <a:p>
            <a:endParaRPr lang="en-US" sz="2600" dirty="0"/>
          </a:p>
          <a:p>
            <a:pPr marL="0" indent="0">
              <a:buNone/>
            </a:pPr>
            <a:r>
              <a:rPr lang="en-US" sz="2400" dirty="0"/>
              <a:t>Can either install it as a package or via another installer, or download the source code and compile it yourself</a:t>
            </a:r>
          </a:p>
          <a:p>
            <a:pPr marL="0" indent="0">
              <a:buNone/>
            </a:pPr>
            <a:r>
              <a:rPr lang="en-US" sz="2400" dirty="0"/>
              <a:t> </a:t>
            </a:r>
          </a:p>
          <a:p>
            <a:pPr marL="0" indent="0">
              <a:buNone/>
            </a:pPr>
            <a:r>
              <a:rPr lang="en-US" sz="2400" dirty="0"/>
              <a:t>Link above tells you how to install on Linux, a Mac and Windows</a:t>
            </a:r>
          </a:p>
          <a:p>
            <a:pPr marL="0" indent="0">
              <a:buNone/>
            </a:pPr>
            <a:endParaRPr lang="en-US" sz="2400" b="1" dirty="0"/>
          </a:p>
          <a:p>
            <a:pPr marL="0" indent="0">
              <a:buNone/>
            </a:pPr>
            <a:r>
              <a:rPr lang="en-US" sz="2400" b="1" dirty="0" err="1"/>
              <a:t>git</a:t>
            </a:r>
            <a:r>
              <a:rPr lang="en-US" sz="2400" b="1" dirty="0"/>
              <a:t> --version </a:t>
            </a:r>
          </a:p>
          <a:p>
            <a:pPr marL="0" indent="0">
              <a:buNone/>
            </a:pPr>
            <a:endParaRPr lang="en-US" sz="2400" dirty="0"/>
          </a:p>
        </p:txBody>
      </p:sp>
      <p:sp>
        <p:nvSpPr>
          <p:cNvPr id="4" name="Footer Placeholder 4"/>
          <p:cNvSpPr>
            <a:spLocks noGrp="1"/>
          </p:cNvSpPr>
          <p:nvPr>
            <p:ph type="ftr" sz="quarter" idx="10"/>
          </p:nvPr>
        </p:nvSpPr>
        <p:spPr>
          <a:xfrm>
            <a:off x="4560849" y="6311900"/>
            <a:ext cx="3510775" cy="365125"/>
          </a:xfrm>
        </p:spPr>
        <p:txBody>
          <a:bodyPr/>
          <a:lstStyle/>
          <a:p>
            <a:r>
              <a:rPr lang="en-US" dirty="0"/>
              <a:t>Pro </a:t>
            </a:r>
            <a:r>
              <a:rPr lang="en-US" dirty="0" err="1"/>
              <a:t>Git</a:t>
            </a:r>
            <a:r>
              <a:rPr lang="en-US" dirty="0"/>
              <a:t> Book – Scott Chacon and Ben Straub</a:t>
            </a:r>
          </a:p>
          <a:p>
            <a:endParaRPr lang="en-US" dirty="0"/>
          </a:p>
        </p:txBody>
      </p:sp>
    </p:spTree>
    <p:extLst>
      <p:ext uri="{BB962C8B-B14F-4D97-AF65-F5344CB8AC3E}">
        <p14:creationId xmlns:p14="http://schemas.microsoft.com/office/powerpoint/2010/main" val="14776793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GIT – First-Time Setup</a:t>
            </a:r>
          </a:p>
        </p:txBody>
      </p:sp>
      <p:sp>
        <p:nvSpPr>
          <p:cNvPr id="3" name="Content Placeholder 2"/>
          <p:cNvSpPr>
            <a:spLocks noGrp="1"/>
          </p:cNvSpPr>
          <p:nvPr>
            <p:ph idx="1"/>
          </p:nvPr>
        </p:nvSpPr>
        <p:spPr/>
        <p:txBody>
          <a:bodyPr>
            <a:normAutofit fontScale="92500" lnSpcReduction="20000"/>
          </a:bodyPr>
          <a:lstStyle/>
          <a:p>
            <a:pPr marL="0" indent="0">
              <a:buNone/>
            </a:pPr>
            <a:r>
              <a:rPr lang="en-US" sz="3700" dirty="0" err="1"/>
              <a:t>git</a:t>
            </a:r>
            <a:r>
              <a:rPr lang="en-US" sz="3700" dirty="0"/>
              <a:t> </a:t>
            </a:r>
            <a:r>
              <a:rPr lang="en-US" sz="3700" dirty="0" err="1"/>
              <a:t>config</a:t>
            </a:r>
            <a:r>
              <a:rPr lang="en-US" sz="3700" dirty="0"/>
              <a:t> </a:t>
            </a:r>
          </a:p>
          <a:p>
            <a:r>
              <a:rPr lang="en-US" sz="2600" dirty="0"/>
              <a:t>Once you have </a:t>
            </a:r>
            <a:r>
              <a:rPr lang="en-US" sz="2600" dirty="0" err="1"/>
              <a:t>Git</a:t>
            </a:r>
            <a:r>
              <a:rPr lang="en-US" sz="2600" dirty="0"/>
              <a:t> on your system, you’ll want to do a few things to customize your </a:t>
            </a:r>
            <a:r>
              <a:rPr lang="en-US" sz="2600" dirty="0" err="1"/>
              <a:t>Git</a:t>
            </a:r>
            <a:r>
              <a:rPr lang="en-US" sz="2600" dirty="0"/>
              <a:t> environment</a:t>
            </a:r>
          </a:p>
          <a:p>
            <a:r>
              <a:rPr lang="en-US" sz="2600" dirty="0"/>
              <a:t>First thing you want to do is set your user name and email address.  Every </a:t>
            </a:r>
            <a:r>
              <a:rPr lang="en-US" sz="2600" dirty="0" err="1"/>
              <a:t>Git</a:t>
            </a:r>
            <a:r>
              <a:rPr lang="en-US" sz="2600" dirty="0"/>
              <a:t> commit uses this information</a:t>
            </a:r>
          </a:p>
          <a:p>
            <a:pPr marL="0" indent="0">
              <a:buNone/>
            </a:pPr>
            <a:endParaRPr lang="en-US" sz="2600" dirty="0"/>
          </a:p>
          <a:p>
            <a:pPr marL="0" indent="0">
              <a:buNone/>
            </a:pPr>
            <a:r>
              <a:rPr lang="en-US" sz="3700" dirty="0"/>
              <a:t> </a:t>
            </a:r>
            <a:endParaRPr lang="en-US" sz="2600" dirty="0"/>
          </a:p>
          <a:p>
            <a:pPr marL="0" indent="0">
              <a:buNone/>
            </a:pPr>
            <a:r>
              <a:rPr lang="en-US" sz="2600" dirty="0"/>
              <a:t> </a:t>
            </a:r>
          </a:p>
          <a:p>
            <a:pPr marL="0" indent="0">
              <a:buNone/>
            </a:pPr>
            <a:br>
              <a:rPr lang="en-US" dirty="0"/>
            </a:br>
            <a:r>
              <a:rPr lang="en-US" dirty="0"/>
              <a:t>check your settings with </a:t>
            </a:r>
          </a:p>
          <a:p>
            <a:pPr marL="0" indent="0">
              <a:buNone/>
            </a:pPr>
            <a:r>
              <a:rPr lang="en-US" dirty="0" err="1"/>
              <a:t>git</a:t>
            </a:r>
            <a:r>
              <a:rPr lang="en-US" dirty="0"/>
              <a:t> </a:t>
            </a:r>
            <a:r>
              <a:rPr lang="en-US" dirty="0" err="1"/>
              <a:t>config</a:t>
            </a:r>
            <a:r>
              <a:rPr lang="en-US" dirty="0"/>
              <a:t> --list</a:t>
            </a:r>
          </a:p>
        </p:txBody>
      </p:sp>
      <p:sp>
        <p:nvSpPr>
          <p:cNvPr id="4" name="Footer Placeholder 4"/>
          <p:cNvSpPr>
            <a:spLocks noGrp="1"/>
          </p:cNvSpPr>
          <p:nvPr>
            <p:ph type="ftr" sz="quarter" idx="10"/>
          </p:nvPr>
        </p:nvSpPr>
        <p:spPr>
          <a:xfrm>
            <a:off x="4560849" y="6311900"/>
            <a:ext cx="3510775" cy="365125"/>
          </a:xfrm>
        </p:spPr>
        <p:txBody>
          <a:bodyPr/>
          <a:lstStyle/>
          <a:p>
            <a:r>
              <a:rPr lang="en-US" dirty="0"/>
              <a:t>Pro </a:t>
            </a:r>
            <a:r>
              <a:rPr lang="en-US" dirty="0" err="1"/>
              <a:t>Git</a:t>
            </a:r>
            <a:r>
              <a:rPr lang="en-US" dirty="0"/>
              <a:t> Book – Scott Chacon and Ben Straub</a:t>
            </a:r>
          </a:p>
          <a:p>
            <a:endParaRPr lang="en-US" dirty="0"/>
          </a:p>
        </p:txBody>
      </p:sp>
      <p:pic>
        <p:nvPicPr>
          <p:cNvPr id="5" name="Picture 4"/>
          <p:cNvPicPr/>
          <p:nvPr/>
        </p:nvPicPr>
        <p:blipFill rotWithShape="1">
          <a:blip r:embed="rId2"/>
          <a:srcRect l="19712" t="41880" r="52564" b="52992"/>
          <a:stretch/>
        </p:blipFill>
        <p:spPr bwMode="auto">
          <a:xfrm>
            <a:off x="838200" y="3587226"/>
            <a:ext cx="8719910" cy="1502359"/>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4043217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650815"/>
            <a:ext cx="7588495" cy="817832"/>
          </a:xfrm>
        </p:spPr>
        <p:txBody>
          <a:bodyPr>
            <a:normAutofit/>
          </a:bodyPr>
          <a:lstStyle/>
          <a:p>
            <a:r>
              <a:rPr lang="en-US" sz="4400" dirty="0"/>
              <a:t>GIT – How it Stores Data</a:t>
            </a:r>
          </a:p>
        </p:txBody>
      </p:sp>
      <p:sp>
        <p:nvSpPr>
          <p:cNvPr id="4" name="Text Placeholder 3"/>
          <p:cNvSpPr>
            <a:spLocks noGrp="1"/>
          </p:cNvSpPr>
          <p:nvPr>
            <p:ph type="body" sz="half" idx="2"/>
          </p:nvPr>
        </p:nvSpPr>
        <p:spPr>
          <a:xfrm>
            <a:off x="693414" y="1549998"/>
            <a:ext cx="9964470" cy="4311052"/>
          </a:xfrm>
        </p:spPr>
        <p:txBody>
          <a:bodyPr>
            <a:normAutofit/>
          </a:bodyPr>
          <a:lstStyle/>
          <a:p>
            <a:r>
              <a:rPr lang="en-US" sz="2400" b="1" dirty="0"/>
              <a:t>Stores data as a series of snapshots</a:t>
            </a:r>
            <a:endParaRPr lang="en-US" sz="2400" dirty="0"/>
          </a:p>
          <a:p>
            <a:pPr>
              <a:spcBef>
                <a:spcPts val="600"/>
              </a:spcBef>
            </a:pPr>
            <a:br>
              <a:rPr lang="en-US" sz="2400" dirty="0"/>
            </a:br>
            <a:r>
              <a:rPr lang="en-US" sz="2400" dirty="0"/>
              <a:t>When you make a </a:t>
            </a:r>
            <a:r>
              <a:rPr lang="en-US" sz="2400" b="1" dirty="0"/>
              <a:t>commit</a:t>
            </a:r>
            <a:r>
              <a:rPr lang="en-US" sz="2400" dirty="0"/>
              <a:t>, </a:t>
            </a:r>
            <a:r>
              <a:rPr lang="en-US" sz="2400" dirty="0" err="1"/>
              <a:t>Git</a:t>
            </a:r>
            <a:r>
              <a:rPr lang="en-US" sz="2400" dirty="0"/>
              <a:t> stores a </a:t>
            </a:r>
            <a:r>
              <a:rPr lang="en-US" sz="2400" b="1" dirty="0"/>
              <a:t>commit object </a:t>
            </a:r>
            <a:r>
              <a:rPr lang="en-US" sz="2400" dirty="0"/>
              <a:t>that contains a pointer to the snapshot of the content you staged.  This object also contains the author’s name and email, the message that you typed, and the pointers to the commit that came directly before it. </a:t>
            </a:r>
          </a:p>
          <a:p>
            <a:pPr>
              <a:spcBef>
                <a:spcPts val="600"/>
              </a:spcBef>
            </a:pPr>
            <a:r>
              <a:rPr lang="en-US" sz="2400" dirty="0"/>
              <a:t>  	</a:t>
            </a:r>
            <a:br>
              <a:rPr lang="en-US" sz="2400" dirty="0"/>
            </a:br>
            <a:endParaRPr lang="en-US" sz="2400" b="1" dirty="0"/>
          </a:p>
        </p:txBody>
      </p:sp>
      <p:sp>
        <p:nvSpPr>
          <p:cNvPr id="6" name="Footer Placeholder 4"/>
          <p:cNvSpPr>
            <a:spLocks noGrp="1"/>
          </p:cNvSpPr>
          <p:nvPr>
            <p:ph type="ftr" sz="quarter" idx="10"/>
          </p:nvPr>
        </p:nvSpPr>
        <p:spPr>
          <a:xfrm>
            <a:off x="4560849" y="6311900"/>
            <a:ext cx="3510775" cy="365125"/>
          </a:xfrm>
        </p:spPr>
        <p:txBody>
          <a:bodyPr/>
          <a:lstStyle/>
          <a:p>
            <a:r>
              <a:rPr lang="en-US" dirty="0"/>
              <a:t>Pro </a:t>
            </a:r>
            <a:r>
              <a:rPr lang="en-US" dirty="0" err="1"/>
              <a:t>Git</a:t>
            </a:r>
            <a:r>
              <a:rPr lang="en-US" dirty="0"/>
              <a:t> Book – Scott Chacon and Ben Straub</a:t>
            </a:r>
          </a:p>
          <a:p>
            <a:endParaRPr lang="en-US" dirty="0"/>
          </a:p>
        </p:txBody>
      </p:sp>
    </p:spTree>
    <p:extLst>
      <p:ext uri="{BB962C8B-B14F-4D97-AF65-F5344CB8AC3E}">
        <p14:creationId xmlns:p14="http://schemas.microsoft.com/office/powerpoint/2010/main" val="15616989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650815"/>
            <a:ext cx="7588495" cy="817832"/>
          </a:xfrm>
        </p:spPr>
        <p:txBody>
          <a:bodyPr>
            <a:normAutofit/>
          </a:bodyPr>
          <a:lstStyle/>
          <a:p>
            <a:r>
              <a:rPr lang="en-US" sz="4400" dirty="0"/>
              <a:t>GIT – How it Stores Data</a:t>
            </a:r>
          </a:p>
        </p:txBody>
      </p:sp>
      <p:sp>
        <p:nvSpPr>
          <p:cNvPr id="4" name="Text Placeholder 3"/>
          <p:cNvSpPr>
            <a:spLocks noGrp="1"/>
          </p:cNvSpPr>
          <p:nvPr>
            <p:ph type="body" sz="half" idx="2"/>
          </p:nvPr>
        </p:nvSpPr>
        <p:spPr>
          <a:xfrm>
            <a:off x="693414" y="1549998"/>
            <a:ext cx="9964470" cy="4311052"/>
          </a:xfrm>
        </p:spPr>
        <p:txBody>
          <a:bodyPr>
            <a:normAutofit/>
          </a:bodyPr>
          <a:lstStyle/>
          <a:p>
            <a:r>
              <a:rPr lang="en-US" sz="2400" b="1" dirty="0"/>
              <a:t>Assume you have a directory containing three files, and you stage them all and commit.  </a:t>
            </a:r>
            <a:r>
              <a:rPr lang="en-US" sz="2400" dirty="0"/>
              <a:t>Staging stores that version of the files in the </a:t>
            </a:r>
            <a:r>
              <a:rPr lang="en-US" sz="2400" dirty="0" err="1"/>
              <a:t>Git</a:t>
            </a:r>
            <a:r>
              <a:rPr lang="en-US" sz="2400" dirty="0"/>
              <a:t> repository (refers to them as blobs).  A tree object and commit object are created. The snapshot can be recreated when needed. </a:t>
            </a:r>
          </a:p>
          <a:p>
            <a:endParaRPr lang="en-US" sz="2400" dirty="0"/>
          </a:p>
          <a:p>
            <a:pPr>
              <a:spcBef>
                <a:spcPts val="600"/>
              </a:spcBef>
            </a:pPr>
            <a:br>
              <a:rPr lang="en-US" sz="2400" dirty="0"/>
            </a:br>
            <a:r>
              <a:rPr lang="en-US" sz="2400" dirty="0"/>
              <a:t>	</a:t>
            </a:r>
            <a:br>
              <a:rPr lang="en-US" sz="2400" dirty="0"/>
            </a:br>
            <a:endParaRPr lang="en-US" sz="2400" b="1" dirty="0"/>
          </a:p>
        </p:txBody>
      </p:sp>
      <p:sp>
        <p:nvSpPr>
          <p:cNvPr id="6" name="Footer Placeholder 4"/>
          <p:cNvSpPr>
            <a:spLocks noGrp="1"/>
          </p:cNvSpPr>
          <p:nvPr>
            <p:ph type="ftr" sz="quarter" idx="10"/>
          </p:nvPr>
        </p:nvSpPr>
        <p:spPr>
          <a:xfrm>
            <a:off x="4560849" y="6311900"/>
            <a:ext cx="3510775" cy="365125"/>
          </a:xfrm>
        </p:spPr>
        <p:txBody>
          <a:bodyPr/>
          <a:lstStyle/>
          <a:p>
            <a:r>
              <a:rPr lang="en-US" dirty="0"/>
              <a:t>Pro </a:t>
            </a:r>
            <a:r>
              <a:rPr lang="en-US" dirty="0" err="1"/>
              <a:t>Git</a:t>
            </a:r>
            <a:r>
              <a:rPr lang="en-US" dirty="0"/>
              <a:t> Book – Scott Chacon and Ben Straub</a:t>
            </a:r>
          </a:p>
          <a:p>
            <a:endParaRPr lang="en-US" dirty="0"/>
          </a:p>
        </p:txBody>
      </p:sp>
      <p:pic>
        <p:nvPicPr>
          <p:cNvPr id="5" name="Picture 4" descr="A commit and its tree."/>
          <p:cNvPicPr/>
          <p:nvPr/>
        </p:nvPicPr>
        <p:blipFill>
          <a:blip r:embed="rId2">
            <a:extLst>
              <a:ext uri="{28A0092B-C50C-407E-A947-70E740481C1C}">
                <a14:useLocalDpi xmlns:a14="http://schemas.microsoft.com/office/drawing/2010/main" val="0"/>
              </a:ext>
            </a:extLst>
          </a:blip>
          <a:srcRect/>
          <a:stretch>
            <a:fillRect/>
          </a:stretch>
        </p:blipFill>
        <p:spPr bwMode="auto">
          <a:xfrm>
            <a:off x="2270233" y="2783270"/>
            <a:ext cx="7147035" cy="3303205"/>
          </a:xfrm>
          <a:prstGeom prst="rect">
            <a:avLst/>
          </a:prstGeom>
          <a:noFill/>
          <a:ln>
            <a:noFill/>
          </a:ln>
        </p:spPr>
      </p:pic>
    </p:spTree>
    <p:extLst>
      <p:ext uri="{BB962C8B-B14F-4D97-AF65-F5344CB8AC3E}">
        <p14:creationId xmlns:p14="http://schemas.microsoft.com/office/powerpoint/2010/main" val="28388711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650815"/>
            <a:ext cx="7588495" cy="817832"/>
          </a:xfrm>
        </p:spPr>
        <p:txBody>
          <a:bodyPr>
            <a:normAutofit/>
          </a:bodyPr>
          <a:lstStyle/>
          <a:p>
            <a:r>
              <a:rPr lang="en-US" sz="4400" dirty="0"/>
              <a:t>GIT – How it Stores Data</a:t>
            </a:r>
          </a:p>
        </p:txBody>
      </p:sp>
      <p:sp>
        <p:nvSpPr>
          <p:cNvPr id="4" name="Text Placeholder 3"/>
          <p:cNvSpPr>
            <a:spLocks noGrp="1"/>
          </p:cNvSpPr>
          <p:nvPr>
            <p:ph type="body" sz="half" idx="2"/>
          </p:nvPr>
        </p:nvSpPr>
        <p:spPr>
          <a:xfrm>
            <a:off x="693414" y="1549998"/>
            <a:ext cx="9964470" cy="4311052"/>
          </a:xfrm>
        </p:spPr>
        <p:txBody>
          <a:bodyPr>
            <a:normAutofit/>
          </a:bodyPr>
          <a:lstStyle/>
          <a:p>
            <a:r>
              <a:rPr lang="en-US" sz="2400" b="1" dirty="0"/>
              <a:t>If you make some changes and commit again, the next commit stores a pointer to the commit that came immediately before it. </a:t>
            </a:r>
            <a:endParaRPr lang="en-US" sz="2400" dirty="0"/>
          </a:p>
          <a:p>
            <a:endParaRPr lang="en-US" sz="2400" dirty="0"/>
          </a:p>
          <a:p>
            <a:pPr>
              <a:spcBef>
                <a:spcPts val="600"/>
              </a:spcBef>
            </a:pPr>
            <a:br>
              <a:rPr lang="en-US" sz="2400" dirty="0"/>
            </a:br>
            <a:r>
              <a:rPr lang="en-US" sz="2400" dirty="0"/>
              <a:t>	</a:t>
            </a:r>
            <a:br>
              <a:rPr lang="en-US" sz="2400" dirty="0"/>
            </a:br>
            <a:endParaRPr lang="en-US" sz="2400" b="1" dirty="0"/>
          </a:p>
        </p:txBody>
      </p:sp>
      <p:sp>
        <p:nvSpPr>
          <p:cNvPr id="6" name="Footer Placeholder 4"/>
          <p:cNvSpPr>
            <a:spLocks noGrp="1"/>
          </p:cNvSpPr>
          <p:nvPr>
            <p:ph type="ftr" sz="quarter" idx="10"/>
          </p:nvPr>
        </p:nvSpPr>
        <p:spPr>
          <a:xfrm>
            <a:off x="4560849" y="6311900"/>
            <a:ext cx="3510775" cy="365125"/>
          </a:xfrm>
        </p:spPr>
        <p:txBody>
          <a:bodyPr/>
          <a:lstStyle/>
          <a:p>
            <a:r>
              <a:rPr lang="en-US" dirty="0"/>
              <a:t>Pro </a:t>
            </a:r>
            <a:r>
              <a:rPr lang="en-US" dirty="0" err="1"/>
              <a:t>Git</a:t>
            </a:r>
            <a:r>
              <a:rPr lang="en-US" dirty="0"/>
              <a:t> Book – Scott Chacon and Ben Straub</a:t>
            </a:r>
          </a:p>
          <a:p>
            <a:endParaRPr lang="en-US" dirty="0"/>
          </a:p>
        </p:txBody>
      </p:sp>
      <p:pic>
        <p:nvPicPr>
          <p:cNvPr id="7" name="Picture 6" descr="Commits and their parents."/>
          <p:cNvPicPr/>
          <p:nvPr/>
        </p:nvPicPr>
        <p:blipFill>
          <a:blip r:embed="rId2">
            <a:extLst>
              <a:ext uri="{28A0092B-C50C-407E-A947-70E740481C1C}">
                <a14:useLocalDpi xmlns:a14="http://schemas.microsoft.com/office/drawing/2010/main" val="0"/>
              </a:ext>
            </a:extLst>
          </a:blip>
          <a:srcRect/>
          <a:stretch>
            <a:fillRect/>
          </a:stretch>
        </p:blipFill>
        <p:spPr bwMode="auto">
          <a:xfrm>
            <a:off x="1865649" y="2813323"/>
            <a:ext cx="7620000" cy="2524125"/>
          </a:xfrm>
          <a:prstGeom prst="rect">
            <a:avLst/>
          </a:prstGeom>
          <a:noFill/>
          <a:ln>
            <a:noFill/>
          </a:ln>
        </p:spPr>
      </p:pic>
    </p:spTree>
    <p:extLst>
      <p:ext uri="{BB962C8B-B14F-4D97-AF65-F5344CB8AC3E}">
        <p14:creationId xmlns:p14="http://schemas.microsoft.com/office/powerpoint/2010/main" val="15667265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650815"/>
            <a:ext cx="7588495" cy="817832"/>
          </a:xfrm>
        </p:spPr>
        <p:txBody>
          <a:bodyPr>
            <a:normAutofit/>
          </a:bodyPr>
          <a:lstStyle/>
          <a:p>
            <a:r>
              <a:rPr lang="en-US" sz="4400" dirty="0"/>
              <a:t>GIT – Branch</a:t>
            </a:r>
          </a:p>
        </p:txBody>
      </p:sp>
      <p:sp>
        <p:nvSpPr>
          <p:cNvPr id="4" name="Text Placeholder 3"/>
          <p:cNvSpPr>
            <a:spLocks noGrp="1"/>
          </p:cNvSpPr>
          <p:nvPr>
            <p:ph type="body" sz="half" idx="2"/>
          </p:nvPr>
        </p:nvSpPr>
        <p:spPr>
          <a:xfrm>
            <a:off x="693414" y="1377387"/>
            <a:ext cx="9964470" cy="4483663"/>
          </a:xfrm>
        </p:spPr>
        <p:txBody>
          <a:bodyPr>
            <a:normAutofit/>
          </a:bodyPr>
          <a:lstStyle/>
          <a:p>
            <a:r>
              <a:rPr lang="en-US" sz="2400" dirty="0"/>
              <a:t>A branch is simply a movable point to one of these commits.  The default branch in </a:t>
            </a:r>
            <a:r>
              <a:rPr lang="en-US" sz="2400" b="1" dirty="0"/>
              <a:t>Git is master</a:t>
            </a:r>
            <a:r>
              <a:rPr lang="en-US" sz="2400" dirty="0"/>
              <a:t>.  (We changed this to </a:t>
            </a:r>
            <a:r>
              <a:rPr lang="en-US" sz="2400" b="1" dirty="0"/>
              <a:t>main</a:t>
            </a:r>
            <a:r>
              <a:rPr lang="en-US" sz="2400" dirty="0"/>
              <a:t>).  As you start making commits, you’re given a master branch that points to the last commit you made.  Every time you commit, it moves forward automatically</a:t>
            </a:r>
          </a:p>
          <a:p>
            <a:endParaRPr lang="en-US" sz="2400" dirty="0"/>
          </a:p>
          <a:p>
            <a:pPr>
              <a:spcBef>
                <a:spcPts val="600"/>
              </a:spcBef>
            </a:pPr>
            <a:br>
              <a:rPr lang="en-US" sz="2400" dirty="0"/>
            </a:br>
            <a:r>
              <a:rPr lang="en-US" sz="2400" dirty="0"/>
              <a:t>	</a:t>
            </a:r>
            <a:br>
              <a:rPr lang="en-US" sz="2400" dirty="0"/>
            </a:br>
            <a:endParaRPr lang="en-US" sz="2400" b="1" dirty="0"/>
          </a:p>
        </p:txBody>
      </p:sp>
      <p:sp>
        <p:nvSpPr>
          <p:cNvPr id="6" name="Footer Placeholder 4"/>
          <p:cNvSpPr>
            <a:spLocks noGrp="1"/>
          </p:cNvSpPr>
          <p:nvPr>
            <p:ph type="ftr" sz="quarter" idx="10"/>
          </p:nvPr>
        </p:nvSpPr>
        <p:spPr>
          <a:xfrm>
            <a:off x="4560849" y="6311900"/>
            <a:ext cx="3510775" cy="365125"/>
          </a:xfrm>
        </p:spPr>
        <p:txBody>
          <a:bodyPr/>
          <a:lstStyle/>
          <a:p>
            <a:r>
              <a:rPr lang="en-US" dirty="0"/>
              <a:t>Pro </a:t>
            </a:r>
            <a:r>
              <a:rPr lang="en-US" dirty="0" err="1"/>
              <a:t>Git</a:t>
            </a:r>
            <a:r>
              <a:rPr lang="en-US" dirty="0"/>
              <a:t> Book – Scott Chacon and Ben Straub</a:t>
            </a:r>
          </a:p>
          <a:p>
            <a:endParaRPr lang="en-US" dirty="0"/>
          </a:p>
        </p:txBody>
      </p:sp>
      <p:pic>
        <p:nvPicPr>
          <p:cNvPr id="8" name="Picture 7" descr="A branch and its commit history."/>
          <p:cNvPicPr/>
          <p:nvPr/>
        </p:nvPicPr>
        <p:blipFill>
          <a:blip r:embed="rId2">
            <a:extLst>
              <a:ext uri="{28A0092B-C50C-407E-A947-70E740481C1C}">
                <a14:useLocalDpi xmlns:a14="http://schemas.microsoft.com/office/drawing/2010/main" val="0"/>
              </a:ext>
            </a:extLst>
          </a:blip>
          <a:srcRect/>
          <a:stretch>
            <a:fillRect/>
          </a:stretch>
        </p:blipFill>
        <p:spPr bwMode="auto">
          <a:xfrm>
            <a:off x="2459420" y="2516243"/>
            <a:ext cx="6863255" cy="3222406"/>
          </a:xfrm>
          <a:prstGeom prst="rect">
            <a:avLst/>
          </a:prstGeom>
          <a:noFill/>
          <a:ln>
            <a:noFill/>
          </a:ln>
        </p:spPr>
      </p:pic>
    </p:spTree>
    <p:extLst>
      <p:ext uri="{BB962C8B-B14F-4D97-AF65-F5344CB8AC3E}">
        <p14:creationId xmlns:p14="http://schemas.microsoft.com/office/powerpoint/2010/main" val="1588371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30166" y="740979"/>
            <a:ext cx="10425222" cy="5120071"/>
          </a:xfrm>
        </p:spPr>
        <p:txBody>
          <a:bodyPr>
            <a:normAutofit/>
          </a:bodyPr>
          <a:lstStyle/>
          <a:p>
            <a:pPr marL="0" indent="0">
              <a:buNone/>
            </a:pPr>
            <a:r>
              <a:rPr lang="en-US" b="1" dirty="0"/>
              <a:t>Getting a </a:t>
            </a:r>
            <a:r>
              <a:rPr lang="en-US" b="1" dirty="0" err="1"/>
              <a:t>Git</a:t>
            </a:r>
            <a:r>
              <a:rPr lang="en-US" b="1" dirty="0"/>
              <a:t> Repository</a:t>
            </a:r>
          </a:p>
          <a:p>
            <a:endParaRPr lang="en-US" dirty="0"/>
          </a:p>
          <a:p>
            <a:pPr marL="0" indent="0">
              <a:buNone/>
            </a:pPr>
            <a:r>
              <a:rPr lang="en-US" dirty="0"/>
              <a:t>You typically obtain a </a:t>
            </a:r>
            <a:r>
              <a:rPr lang="en-US" dirty="0" err="1"/>
              <a:t>Git</a:t>
            </a:r>
            <a:r>
              <a:rPr lang="en-US" dirty="0"/>
              <a:t> repository in one of two ways:</a:t>
            </a:r>
          </a:p>
          <a:p>
            <a:r>
              <a:rPr lang="en-US" dirty="0"/>
              <a:t>You can take a </a:t>
            </a:r>
            <a:r>
              <a:rPr lang="en-US" b="1" dirty="0"/>
              <a:t>local directory </a:t>
            </a:r>
            <a:r>
              <a:rPr lang="en-US" dirty="0"/>
              <a:t>that is currently not under version control, and </a:t>
            </a:r>
            <a:r>
              <a:rPr lang="en-US" b="1" dirty="0"/>
              <a:t>turn it into a </a:t>
            </a:r>
            <a:r>
              <a:rPr lang="en-US" b="1" dirty="0" err="1"/>
              <a:t>Git</a:t>
            </a:r>
            <a:r>
              <a:rPr lang="en-US" b="1" dirty="0"/>
              <a:t> repository</a:t>
            </a:r>
            <a:r>
              <a:rPr lang="en-US" dirty="0"/>
              <a:t>, or</a:t>
            </a:r>
          </a:p>
          <a:p>
            <a:r>
              <a:rPr lang="en-US" dirty="0"/>
              <a:t>You can </a:t>
            </a:r>
            <a:r>
              <a:rPr lang="en-US" b="1" i="1" dirty="0"/>
              <a:t>clone</a:t>
            </a:r>
            <a:r>
              <a:rPr lang="en-US" b="1" dirty="0"/>
              <a:t> an existing </a:t>
            </a:r>
            <a:r>
              <a:rPr lang="en-US" b="1" dirty="0" err="1"/>
              <a:t>Git</a:t>
            </a:r>
            <a:r>
              <a:rPr lang="en-US" b="1" dirty="0"/>
              <a:t> repository </a:t>
            </a:r>
            <a:r>
              <a:rPr lang="en-US" dirty="0"/>
              <a:t>from elsewhere.</a:t>
            </a:r>
          </a:p>
          <a:p>
            <a:pPr marL="0" indent="0">
              <a:buNone/>
            </a:pPr>
            <a:r>
              <a:rPr lang="en-US" dirty="0"/>
              <a:t>In either case, you end up with a </a:t>
            </a:r>
            <a:r>
              <a:rPr lang="en-US" dirty="0" err="1"/>
              <a:t>Git</a:t>
            </a:r>
            <a:r>
              <a:rPr lang="en-US" dirty="0"/>
              <a:t> repository on your local machine, ready for work.</a:t>
            </a:r>
          </a:p>
        </p:txBody>
      </p:sp>
    </p:spTree>
    <p:extLst>
      <p:ext uri="{BB962C8B-B14F-4D97-AF65-F5344CB8AC3E}">
        <p14:creationId xmlns:p14="http://schemas.microsoft.com/office/powerpoint/2010/main" val="8804849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30166" y="740979"/>
            <a:ext cx="10425222" cy="5120071"/>
          </a:xfrm>
        </p:spPr>
        <p:txBody>
          <a:bodyPr>
            <a:normAutofit/>
          </a:bodyPr>
          <a:lstStyle/>
          <a:p>
            <a:pPr marL="0" indent="0">
              <a:buNone/>
            </a:pPr>
            <a:r>
              <a:rPr lang="en-US" b="1" dirty="0"/>
              <a:t>Initializing a Repository in an Existing Directory</a:t>
            </a:r>
          </a:p>
          <a:p>
            <a:pPr marL="0" indent="0">
              <a:buNone/>
            </a:pPr>
            <a:endParaRPr lang="en-US" b="1" dirty="0"/>
          </a:p>
          <a:p>
            <a:pPr marL="0" indent="0">
              <a:buNone/>
            </a:pPr>
            <a:r>
              <a:rPr lang="en-US" dirty="0"/>
              <a:t>If you have a project directory that is currently not under version control and you want to start controlling it with </a:t>
            </a:r>
            <a:r>
              <a:rPr lang="en-US" dirty="0" err="1"/>
              <a:t>Git</a:t>
            </a:r>
            <a:r>
              <a:rPr lang="en-US" dirty="0"/>
              <a:t>, you first need to go to that project’s directory.</a:t>
            </a:r>
          </a:p>
          <a:p>
            <a:endParaRPr lang="en-US" dirty="0"/>
          </a:p>
          <a:p>
            <a:pPr marL="0" indent="0">
              <a:buNone/>
            </a:pPr>
            <a:r>
              <a:rPr lang="en-US" b="1" dirty="0"/>
              <a:t>  git </a:t>
            </a:r>
            <a:r>
              <a:rPr lang="en-US" b="1" dirty="0" err="1"/>
              <a:t>init</a:t>
            </a:r>
            <a:endParaRPr lang="en-US" b="1" dirty="0"/>
          </a:p>
          <a:p>
            <a:pPr marL="0" indent="0">
              <a:buNone/>
            </a:pPr>
            <a:endParaRPr lang="en-US" b="1" dirty="0"/>
          </a:p>
        </p:txBody>
      </p:sp>
    </p:spTree>
    <p:extLst>
      <p:ext uri="{BB962C8B-B14F-4D97-AF65-F5344CB8AC3E}">
        <p14:creationId xmlns:p14="http://schemas.microsoft.com/office/powerpoint/2010/main" val="41367330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30166" y="740979"/>
            <a:ext cx="10425222" cy="5120071"/>
          </a:xfrm>
        </p:spPr>
        <p:txBody>
          <a:bodyPr>
            <a:normAutofit/>
          </a:bodyPr>
          <a:lstStyle/>
          <a:p>
            <a:pPr marL="0" indent="0">
              <a:buNone/>
            </a:pPr>
            <a:r>
              <a:rPr lang="en-US" dirty="0"/>
              <a:t>This creates a new subdirectory named </a:t>
            </a:r>
            <a:r>
              <a:rPr lang="en-US" b="1" dirty="0"/>
              <a:t>.</a:t>
            </a:r>
            <a:r>
              <a:rPr lang="en-US" b="1" dirty="0" err="1"/>
              <a:t>git</a:t>
            </a:r>
            <a:r>
              <a:rPr lang="en-US" b="1" dirty="0"/>
              <a:t> </a:t>
            </a:r>
            <a:r>
              <a:rPr lang="en-US" dirty="0"/>
              <a:t>that contains all of your necessary repository files — a </a:t>
            </a:r>
            <a:r>
              <a:rPr lang="en-US" dirty="0" err="1"/>
              <a:t>Git</a:t>
            </a:r>
            <a:r>
              <a:rPr lang="en-US" dirty="0"/>
              <a:t> repository skeleton. At this point, nothing in your project is tracked yet. </a:t>
            </a:r>
          </a:p>
          <a:p>
            <a:pPr marL="0" indent="0">
              <a:buNone/>
            </a:pPr>
            <a:endParaRPr lang="en-US" dirty="0"/>
          </a:p>
          <a:p>
            <a:pPr marL="0" indent="0">
              <a:buNone/>
            </a:pPr>
            <a:r>
              <a:rPr lang="en-US" dirty="0"/>
              <a:t>If you want to start version-controlling existing files (as opposed to an empty directory), you should probably begin tracking those files and do an </a:t>
            </a:r>
            <a:r>
              <a:rPr lang="en-US" b="1" dirty="0"/>
              <a:t>initial commit</a:t>
            </a:r>
            <a:r>
              <a:rPr lang="en-US" dirty="0"/>
              <a:t>. You can accomplish that with a few </a:t>
            </a:r>
            <a:r>
              <a:rPr lang="en-US" b="1" dirty="0" err="1"/>
              <a:t>git</a:t>
            </a:r>
            <a:r>
              <a:rPr lang="en-US" b="1" dirty="0"/>
              <a:t> add </a:t>
            </a:r>
            <a:r>
              <a:rPr lang="en-US" dirty="0"/>
              <a:t>commands that specify the files you want to track, followed by a </a:t>
            </a:r>
            <a:r>
              <a:rPr lang="en-US" dirty="0" err="1"/>
              <a:t>git</a:t>
            </a:r>
            <a:r>
              <a:rPr lang="en-US" dirty="0"/>
              <a:t> commit:</a:t>
            </a:r>
          </a:p>
        </p:txBody>
      </p:sp>
    </p:spTree>
    <p:extLst>
      <p:ext uri="{BB962C8B-B14F-4D97-AF65-F5344CB8AC3E}">
        <p14:creationId xmlns:p14="http://schemas.microsoft.com/office/powerpoint/2010/main" val="14810757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30166" y="740979"/>
            <a:ext cx="10425222" cy="5120071"/>
          </a:xfrm>
        </p:spPr>
        <p:txBody>
          <a:bodyPr>
            <a:normAutofit/>
          </a:bodyPr>
          <a:lstStyle/>
          <a:p>
            <a:pPr marL="0" indent="0">
              <a:buNone/>
            </a:pPr>
            <a:r>
              <a:rPr lang="en-US" dirty="0"/>
              <a:t>Add all changes to staging</a:t>
            </a:r>
          </a:p>
          <a:p>
            <a:pPr marL="0" indent="0">
              <a:buNone/>
            </a:pPr>
            <a:r>
              <a:rPr lang="en-US" b="1" dirty="0" err="1"/>
              <a:t>git</a:t>
            </a:r>
            <a:r>
              <a:rPr lang="en-US" b="1" dirty="0"/>
              <a:t> add -A</a:t>
            </a:r>
          </a:p>
          <a:p>
            <a:pPr marL="0" indent="0">
              <a:buNone/>
            </a:pPr>
            <a:endParaRPr lang="en-US" dirty="0"/>
          </a:p>
          <a:p>
            <a:pPr marL="0" indent="0">
              <a:buNone/>
            </a:pPr>
            <a:r>
              <a:rPr lang="en-US" dirty="0"/>
              <a:t>Commit the changes along with a message</a:t>
            </a:r>
          </a:p>
          <a:p>
            <a:pPr marL="0" indent="0">
              <a:buNone/>
            </a:pPr>
            <a:r>
              <a:rPr lang="en-US" b="1" dirty="0" err="1"/>
              <a:t>git</a:t>
            </a:r>
            <a:r>
              <a:rPr lang="en-US" b="1" dirty="0"/>
              <a:t> commit -m 'initial project version'</a:t>
            </a:r>
          </a:p>
        </p:txBody>
      </p:sp>
    </p:spTree>
    <p:extLst>
      <p:ext uri="{BB962C8B-B14F-4D97-AF65-F5344CB8AC3E}">
        <p14:creationId xmlns:p14="http://schemas.microsoft.com/office/powerpoint/2010/main" val="13374162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03D974-FB79-8ECC-8689-15198CA81A14}"/>
              </a:ext>
            </a:extLst>
          </p:cNvPr>
          <p:cNvSpPr>
            <a:spLocks noGrp="1"/>
          </p:cNvSpPr>
          <p:nvPr>
            <p:ph idx="1"/>
          </p:nvPr>
        </p:nvSpPr>
        <p:spPr>
          <a:xfrm>
            <a:off x="914400" y="987425"/>
            <a:ext cx="10440988" cy="4873625"/>
          </a:xfrm>
        </p:spPr>
        <p:txBody>
          <a:bodyPr/>
          <a:lstStyle/>
          <a:p>
            <a:pPr marL="0" indent="0">
              <a:buNone/>
            </a:pPr>
            <a:r>
              <a:rPr lang="en-US" dirty="0"/>
              <a:t>Clone a repository</a:t>
            </a:r>
          </a:p>
          <a:p>
            <a:endParaRPr lang="en-US" dirty="0"/>
          </a:p>
          <a:p>
            <a:pPr marL="0" indent="0">
              <a:buNone/>
            </a:pPr>
            <a:r>
              <a:rPr lang="en-US" dirty="0"/>
              <a:t>git clone http:….</a:t>
            </a:r>
          </a:p>
          <a:p>
            <a:pPr marL="0" indent="0">
              <a:buNone/>
            </a:pPr>
            <a:endParaRPr lang="en-US" dirty="0"/>
          </a:p>
          <a:p>
            <a:pPr marL="0" indent="0">
              <a:buNone/>
            </a:pPr>
            <a:r>
              <a:rPr lang="en-US" dirty="0"/>
              <a:t>Set up your virtual environment.  </a:t>
            </a:r>
          </a:p>
          <a:p>
            <a:pPr marL="0" indent="0">
              <a:buNone/>
            </a:pPr>
            <a:r>
              <a:rPr lang="en-US" sz="3200" b="1" dirty="0"/>
              <a:t>python –m </a:t>
            </a:r>
            <a:r>
              <a:rPr lang="en-US" sz="3200" b="1" dirty="0" err="1"/>
              <a:t>venv</a:t>
            </a:r>
            <a:r>
              <a:rPr lang="en-US" sz="3200" b="1" dirty="0"/>
              <a:t> .</a:t>
            </a:r>
            <a:r>
              <a:rPr lang="en-US" sz="3200" b="1" dirty="0" err="1"/>
              <a:t>venv</a:t>
            </a:r>
            <a:br>
              <a:rPr lang="en-US" sz="3200" b="1" dirty="0"/>
            </a:br>
            <a:r>
              <a:rPr lang="en-US" sz="3200" b="1" dirty="0"/>
              <a:t>.</a:t>
            </a:r>
            <a:r>
              <a:rPr lang="en-US" sz="3200" b="1" dirty="0" err="1"/>
              <a:t>venv</a:t>
            </a:r>
            <a:r>
              <a:rPr lang="en-US" sz="3200" b="1" dirty="0"/>
              <a:t>\Scripts\Activate.ps1</a:t>
            </a:r>
            <a:br>
              <a:rPr lang="en-US" sz="3200" b="1" dirty="0"/>
            </a:br>
            <a:r>
              <a:rPr lang="en-US" sz="3200" b="1" dirty="0"/>
              <a:t>python –m pip install –r requirements.txt</a:t>
            </a:r>
          </a:p>
          <a:p>
            <a:pPr marL="0" indent="0">
              <a:buNone/>
            </a:pPr>
            <a:endParaRPr lang="en-US" dirty="0"/>
          </a:p>
        </p:txBody>
      </p:sp>
    </p:spTree>
    <p:extLst>
      <p:ext uri="{BB962C8B-B14F-4D97-AF65-F5344CB8AC3E}">
        <p14:creationId xmlns:p14="http://schemas.microsoft.com/office/powerpoint/2010/main" val="23038021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8122" y="338866"/>
            <a:ext cx="3932237" cy="1600200"/>
          </a:xfrm>
        </p:spPr>
        <p:txBody>
          <a:bodyPr>
            <a:normAutofit/>
          </a:bodyPr>
          <a:lstStyle/>
          <a:p>
            <a:r>
              <a:rPr lang="en-US" sz="4400" dirty="0"/>
              <a:t>The Three States</a:t>
            </a:r>
            <a:br>
              <a:rPr lang="en-US" sz="4400" dirty="0"/>
            </a:br>
            <a:endParaRPr lang="en-US" sz="4400" dirty="0"/>
          </a:p>
        </p:txBody>
      </p:sp>
      <p:sp>
        <p:nvSpPr>
          <p:cNvPr id="6" name="Footer Placeholder 4"/>
          <p:cNvSpPr>
            <a:spLocks noGrp="1"/>
          </p:cNvSpPr>
          <p:nvPr>
            <p:ph type="ftr" sz="quarter" idx="10"/>
          </p:nvPr>
        </p:nvSpPr>
        <p:spPr>
          <a:xfrm>
            <a:off x="4560849" y="6311900"/>
            <a:ext cx="3510775" cy="365125"/>
          </a:xfrm>
        </p:spPr>
        <p:txBody>
          <a:bodyPr/>
          <a:lstStyle/>
          <a:p>
            <a:r>
              <a:rPr lang="en-US" dirty="0"/>
              <a:t>Pro </a:t>
            </a:r>
            <a:r>
              <a:rPr lang="en-US" dirty="0" err="1"/>
              <a:t>Git</a:t>
            </a:r>
            <a:r>
              <a:rPr lang="en-US" dirty="0"/>
              <a:t> Book – Scott Chacon and Ben Straub</a:t>
            </a:r>
          </a:p>
          <a:p>
            <a:endParaRPr lang="en-US" dirty="0"/>
          </a:p>
        </p:txBody>
      </p:sp>
      <p:sp>
        <p:nvSpPr>
          <p:cNvPr id="3" name="Text Placeholder 2"/>
          <p:cNvSpPr>
            <a:spLocks noGrp="1"/>
          </p:cNvSpPr>
          <p:nvPr>
            <p:ph type="body" sz="half" idx="2"/>
          </p:nvPr>
        </p:nvSpPr>
        <p:spPr>
          <a:xfrm>
            <a:off x="839788" y="1702397"/>
            <a:ext cx="8573153" cy="4254500"/>
          </a:xfrm>
        </p:spPr>
        <p:txBody>
          <a:bodyPr>
            <a:normAutofit lnSpcReduction="10000"/>
          </a:bodyPr>
          <a:lstStyle/>
          <a:p>
            <a:r>
              <a:rPr lang="en-US" sz="2400" dirty="0" err="1"/>
              <a:t>Git</a:t>
            </a:r>
            <a:r>
              <a:rPr lang="en-US" sz="2400" dirty="0"/>
              <a:t> has three main states that your files can reside in: </a:t>
            </a:r>
            <a:r>
              <a:rPr lang="en-US" sz="2400" b="1" i="1" dirty="0"/>
              <a:t>committed</a:t>
            </a:r>
            <a:r>
              <a:rPr lang="en-US" sz="2400" b="1" dirty="0"/>
              <a:t>, </a:t>
            </a:r>
            <a:r>
              <a:rPr lang="en-US" sz="2400" b="1" i="1" dirty="0"/>
              <a:t>modified</a:t>
            </a:r>
            <a:r>
              <a:rPr lang="en-US" sz="2400" b="1" dirty="0"/>
              <a:t>, and </a:t>
            </a:r>
            <a:r>
              <a:rPr lang="en-US" sz="2400" b="1" i="1" dirty="0"/>
              <a:t>staged</a:t>
            </a:r>
            <a:r>
              <a:rPr lang="en-US" sz="2400" dirty="0"/>
              <a:t>:</a:t>
            </a:r>
          </a:p>
          <a:p>
            <a:endParaRPr lang="en-US" sz="2400" dirty="0"/>
          </a:p>
          <a:p>
            <a:r>
              <a:rPr lang="en-US" sz="2400" dirty="0"/>
              <a:t>Committed means that the data is safely stored in your local database.</a:t>
            </a:r>
          </a:p>
          <a:p>
            <a:endParaRPr lang="en-US" sz="2400" dirty="0"/>
          </a:p>
          <a:p>
            <a:r>
              <a:rPr lang="en-US" sz="2400" dirty="0"/>
              <a:t>Modified means that you have changed the file but have not committed it to your database yet.</a:t>
            </a:r>
          </a:p>
          <a:p>
            <a:endParaRPr lang="en-US" sz="2400" dirty="0"/>
          </a:p>
          <a:p>
            <a:r>
              <a:rPr lang="en-US" sz="2400" dirty="0"/>
              <a:t>Staged means that you have marked a modified file in its current version to go into your next commit snapshot.</a:t>
            </a:r>
          </a:p>
          <a:p>
            <a:endParaRPr lang="en-US" dirty="0"/>
          </a:p>
        </p:txBody>
      </p:sp>
    </p:spTree>
    <p:extLst>
      <p:ext uri="{BB962C8B-B14F-4D97-AF65-F5344CB8AC3E}">
        <p14:creationId xmlns:p14="http://schemas.microsoft.com/office/powerpoint/2010/main" val="3616632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642249" y="597789"/>
            <a:ext cx="7551993" cy="5459811"/>
          </a:xfrm>
          <a:prstGeom prst="rect">
            <a:avLst/>
          </a:prstGeom>
        </p:spPr>
      </p:pic>
    </p:spTree>
    <p:extLst>
      <p:ext uri="{BB962C8B-B14F-4D97-AF65-F5344CB8AC3E}">
        <p14:creationId xmlns:p14="http://schemas.microsoft.com/office/powerpoint/2010/main" val="19093043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a:t>GIT – Tracked Files</a:t>
            </a:r>
            <a:br>
              <a:rPr lang="en-US" sz="4400" dirty="0"/>
            </a:br>
            <a:endParaRPr lang="en-US" sz="4400" dirty="0"/>
          </a:p>
        </p:txBody>
      </p:sp>
      <p:sp>
        <p:nvSpPr>
          <p:cNvPr id="4" name="Text Placeholder 3"/>
          <p:cNvSpPr>
            <a:spLocks noGrp="1"/>
          </p:cNvSpPr>
          <p:nvPr>
            <p:ph type="body" sz="half" idx="2"/>
          </p:nvPr>
        </p:nvSpPr>
        <p:spPr/>
        <p:txBody>
          <a:bodyPr>
            <a:normAutofit/>
          </a:bodyPr>
          <a:lstStyle/>
          <a:p>
            <a:r>
              <a:rPr lang="en-US" sz="2400" b="1" dirty="0" err="1"/>
              <a:t>git</a:t>
            </a:r>
            <a:r>
              <a:rPr lang="en-US" sz="2400" b="1" dirty="0"/>
              <a:t> status</a:t>
            </a:r>
          </a:p>
          <a:p>
            <a:r>
              <a:rPr lang="en-US" sz="2400" dirty="0"/>
              <a:t>Untracked basically means that </a:t>
            </a:r>
            <a:r>
              <a:rPr lang="en-US" sz="2400" dirty="0" err="1"/>
              <a:t>Git</a:t>
            </a:r>
            <a:r>
              <a:rPr lang="en-US" sz="2400" dirty="0"/>
              <a:t> sees a file you didn’t have in the previous snapshot (commit); </a:t>
            </a:r>
          </a:p>
          <a:p>
            <a:endParaRPr lang="en-US" sz="2400" dirty="0"/>
          </a:p>
          <a:p>
            <a:r>
              <a:rPr lang="en-US" sz="2400" b="1" dirty="0" err="1"/>
              <a:t>git</a:t>
            </a:r>
            <a:r>
              <a:rPr lang="en-US" sz="2400" b="1" dirty="0"/>
              <a:t> add </a:t>
            </a:r>
            <a:r>
              <a:rPr lang="en-US" sz="2400" b="1" dirty="0" err="1"/>
              <a:t>nameoffile</a:t>
            </a:r>
            <a:endParaRPr lang="en-US" sz="2400" b="1" dirty="0"/>
          </a:p>
          <a:p>
            <a:r>
              <a:rPr lang="en-US" sz="2400" dirty="0"/>
              <a:t>to begin tracking</a:t>
            </a:r>
          </a:p>
        </p:txBody>
      </p:sp>
      <p:sp>
        <p:nvSpPr>
          <p:cNvPr id="6" name="Footer Placeholder 4"/>
          <p:cNvSpPr>
            <a:spLocks noGrp="1"/>
          </p:cNvSpPr>
          <p:nvPr>
            <p:ph type="ftr" sz="quarter" idx="10"/>
          </p:nvPr>
        </p:nvSpPr>
        <p:spPr>
          <a:xfrm>
            <a:off x="4560849" y="6311900"/>
            <a:ext cx="3510775" cy="365125"/>
          </a:xfrm>
        </p:spPr>
        <p:txBody>
          <a:bodyPr/>
          <a:lstStyle/>
          <a:p>
            <a:r>
              <a:rPr lang="en-US" dirty="0"/>
              <a:t>Pro </a:t>
            </a:r>
            <a:r>
              <a:rPr lang="en-US" dirty="0" err="1"/>
              <a:t>Git</a:t>
            </a:r>
            <a:r>
              <a:rPr lang="en-US" dirty="0"/>
              <a:t> Book – Scott Chacon and Ben Straub</a:t>
            </a:r>
          </a:p>
          <a:p>
            <a:endParaRPr lang="en-US" dirty="0"/>
          </a:p>
        </p:txBody>
      </p:sp>
      <p:pic>
        <p:nvPicPr>
          <p:cNvPr id="9" name="Content Placeholder 8"/>
          <p:cNvPicPr>
            <a:picLocks noGrp="1"/>
          </p:cNvPicPr>
          <p:nvPr>
            <p:ph idx="1"/>
          </p:nvPr>
        </p:nvPicPr>
        <p:blipFill rotWithShape="1">
          <a:blip r:embed="rId2"/>
          <a:srcRect l="16346" t="60399" r="52564" b="12535"/>
          <a:stretch/>
        </p:blipFill>
        <p:spPr bwMode="auto">
          <a:xfrm>
            <a:off x="5348378" y="2125250"/>
            <a:ext cx="5884549" cy="321186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7162112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650815"/>
            <a:ext cx="7588495" cy="817832"/>
          </a:xfrm>
        </p:spPr>
        <p:txBody>
          <a:bodyPr>
            <a:normAutofit/>
          </a:bodyPr>
          <a:lstStyle/>
          <a:p>
            <a:r>
              <a:rPr lang="en-US" sz="4400" dirty="0"/>
              <a:t>GIT </a:t>
            </a:r>
          </a:p>
        </p:txBody>
      </p:sp>
      <p:sp>
        <p:nvSpPr>
          <p:cNvPr id="4" name="Text Placeholder 3"/>
          <p:cNvSpPr>
            <a:spLocks noGrp="1"/>
          </p:cNvSpPr>
          <p:nvPr>
            <p:ph type="body" sz="half" idx="2"/>
          </p:nvPr>
        </p:nvSpPr>
        <p:spPr>
          <a:xfrm>
            <a:off x="693414" y="1549998"/>
            <a:ext cx="9964470" cy="4311052"/>
          </a:xfrm>
        </p:spPr>
        <p:txBody>
          <a:bodyPr>
            <a:normAutofit/>
          </a:bodyPr>
          <a:lstStyle/>
          <a:p>
            <a:br>
              <a:rPr lang="en-US" sz="2400" dirty="0"/>
            </a:br>
            <a:r>
              <a:rPr lang="en-US" sz="2400" b="1" dirty="0" err="1"/>
              <a:t>git</a:t>
            </a:r>
            <a:r>
              <a:rPr lang="en-US" sz="2400" b="1" dirty="0"/>
              <a:t> rm </a:t>
            </a:r>
            <a:r>
              <a:rPr lang="en-US" sz="2400" b="1" dirty="0" err="1"/>
              <a:t>name_of_file</a:t>
            </a:r>
            <a:r>
              <a:rPr lang="en-US" sz="2400" b="1" dirty="0"/>
              <a:t>    </a:t>
            </a:r>
            <a:r>
              <a:rPr lang="en-US" sz="2400" dirty="0"/>
              <a:t>will</a:t>
            </a:r>
            <a:r>
              <a:rPr lang="en-US" sz="2400" b="1" dirty="0"/>
              <a:t> </a:t>
            </a:r>
            <a:r>
              <a:rPr lang="en-US" sz="2400" dirty="0"/>
              <a:t>untrack and remove file from working directory</a:t>
            </a:r>
          </a:p>
          <a:p>
            <a:pPr>
              <a:spcBef>
                <a:spcPts val="600"/>
              </a:spcBef>
            </a:pPr>
            <a:br>
              <a:rPr lang="en-US" sz="2400" dirty="0"/>
            </a:br>
            <a:r>
              <a:rPr lang="en-US" sz="2400" b="1" dirty="0" err="1"/>
              <a:t>git</a:t>
            </a:r>
            <a:r>
              <a:rPr lang="en-US" sz="2400" b="1" dirty="0"/>
              <a:t> log   </a:t>
            </a:r>
            <a:r>
              <a:rPr lang="en-US" sz="2400" dirty="0"/>
              <a:t>view an existing commit history</a:t>
            </a:r>
          </a:p>
          <a:p>
            <a:pPr>
              <a:spcBef>
                <a:spcPts val="600"/>
              </a:spcBef>
            </a:pPr>
            <a:endParaRPr lang="en-US" sz="2400" dirty="0"/>
          </a:p>
          <a:p>
            <a:pPr>
              <a:spcBef>
                <a:spcPts val="600"/>
              </a:spcBef>
            </a:pPr>
            <a:r>
              <a:rPr lang="en-US" sz="2400" b="1" dirty="0" err="1"/>
              <a:t>git</a:t>
            </a:r>
            <a:r>
              <a:rPr lang="en-US" sz="2400" b="1" dirty="0"/>
              <a:t> status</a:t>
            </a:r>
          </a:p>
          <a:p>
            <a:pPr>
              <a:spcBef>
                <a:spcPts val="600"/>
              </a:spcBef>
            </a:pPr>
            <a:br>
              <a:rPr lang="en-US" sz="2400" dirty="0"/>
            </a:br>
            <a:r>
              <a:rPr lang="en-US" sz="2400" dirty="0"/>
              <a:t>lots of </a:t>
            </a:r>
            <a:r>
              <a:rPr lang="en-US" sz="2400" dirty="0" err="1"/>
              <a:t>git</a:t>
            </a:r>
            <a:r>
              <a:rPr lang="en-US" sz="2400" dirty="0"/>
              <a:t> commands – can undo things</a:t>
            </a:r>
          </a:p>
          <a:p>
            <a:pPr>
              <a:spcBef>
                <a:spcPts val="600"/>
              </a:spcBef>
            </a:pPr>
            <a:r>
              <a:rPr lang="en-US" sz="2400" dirty="0"/>
              <a:t>	</a:t>
            </a:r>
            <a:r>
              <a:rPr lang="en-US" sz="2400" dirty="0" err="1"/>
              <a:t>unstage</a:t>
            </a:r>
            <a:r>
              <a:rPr lang="en-US" sz="2400" dirty="0"/>
              <a:t> a file</a:t>
            </a:r>
          </a:p>
          <a:p>
            <a:pPr>
              <a:spcBef>
                <a:spcPts val="600"/>
              </a:spcBef>
            </a:pPr>
            <a:r>
              <a:rPr lang="en-US" sz="2400" dirty="0"/>
              <a:t>	</a:t>
            </a:r>
            <a:r>
              <a:rPr lang="en-US" sz="2400" dirty="0" err="1"/>
              <a:t>unmodify</a:t>
            </a:r>
            <a:r>
              <a:rPr lang="en-US" sz="2400" dirty="0"/>
              <a:t> a file</a:t>
            </a:r>
          </a:p>
        </p:txBody>
      </p:sp>
      <p:sp>
        <p:nvSpPr>
          <p:cNvPr id="6" name="Footer Placeholder 4"/>
          <p:cNvSpPr>
            <a:spLocks noGrp="1"/>
          </p:cNvSpPr>
          <p:nvPr>
            <p:ph type="ftr" sz="quarter" idx="10"/>
          </p:nvPr>
        </p:nvSpPr>
        <p:spPr>
          <a:xfrm>
            <a:off x="4560849" y="6311900"/>
            <a:ext cx="3510775" cy="365125"/>
          </a:xfrm>
        </p:spPr>
        <p:txBody>
          <a:bodyPr/>
          <a:lstStyle/>
          <a:p>
            <a:r>
              <a:rPr lang="en-US" dirty="0"/>
              <a:t>Pro </a:t>
            </a:r>
            <a:r>
              <a:rPr lang="en-US" dirty="0" err="1"/>
              <a:t>Git</a:t>
            </a:r>
            <a:r>
              <a:rPr lang="en-US" dirty="0"/>
              <a:t> Book – Scott Chacon and Ben Straub</a:t>
            </a:r>
          </a:p>
          <a:p>
            <a:endParaRPr lang="en-US" dirty="0"/>
          </a:p>
        </p:txBody>
      </p:sp>
    </p:spTree>
    <p:extLst>
      <p:ext uri="{BB962C8B-B14F-4D97-AF65-F5344CB8AC3E}">
        <p14:creationId xmlns:p14="http://schemas.microsoft.com/office/powerpoint/2010/main" val="7261806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743577"/>
            <a:ext cx="7781698" cy="1044763"/>
          </a:xfrm>
        </p:spPr>
        <p:txBody>
          <a:bodyPr>
            <a:normAutofit/>
          </a:bodyPr>
          <a:lstStyle/>
          <a:p>
            <a:r>
              <a:rPr lang="en-US" sz="4400" b="1" dirty="0" err="1"/>
              <a:t>Git</a:t>
            </a:r>
            <a:r>
              <a:rPr lang="en-US" sz="4400" b="1" dirty="0"/>
              <a:t> Hub</a:t>
            </a:r>
            <a:endParaRPr lang="en-US" sz="4400" dirty="0"/>
          </a:p>
        </p:txBody>
      </p:sp>
      <p:sp>
        <p:nvSpPr>
          <p:cNvPr id="6" name="Footer Placeholder 4"/>
          <p:cNvSpPr>
            <a:spLocks noGrp="1"/>
          </p:cNvSpPr>
          <p:nvPr>
            <p:ph type="ftr" sz="quarter" idx="10"/>
          </p:nvPr>
        </p:nvSpPr>
        <p:spPr>
          <a:xfrm>
            <a:off x="4560849" y="6311900"/>
            <a:ext cx="3510775" cy="365125"/>
          </a:xfrm>
        </p:spPr>
        <p:txBody>
          <a:bodyPr/>
          <a:lstStyle/>
          <a:p>
            <a:r>
              <a:rPr lang="en-US" dirty="0"/>
              <a:t>Pro </a:t>
            </a:r>
            <a:r>
              <a:rPr lang="en-US" dirty="0" err="1"/>
              <a:t>Git</a:t>
            </a:r>
            <a:r>
              <a:rPr lang="en-US" dirty="0"/>
              <a:t> Book – Scott Chacon and Ben Straub</a:t>
            </a:r>
          </a:p>
          <a:p>
            <a:endParaRPr lang="en-US" dirty="0"/>
          </a:p>
        </p:txBody>
      </p:sp>
      <p:sp>
        <p:nvSpPr>
          <p:cNvPr id="3" name="Text Placeholder 2"/>
          <p:cNvSpPr>
            <a:spLocks noGrp="1"/>
          </p:cNvSpPr>
          <p:nvPr>
            <p:ph type="body" sz="half" idx="2"/>
          </p:nvPr>
        </p:nvSpPr>
        <p:spPr>
          <a:xfrm>
            <a:off x="839788" y="1702397"/>
            <a:ext cx="8573153" cy="4254500"/>
          </a:xfrm>
        </p:spPr>
        <p:txBody>
          <a:bodyPr>
            <a:normAutofit/>
          </a:bodyPr>
          <a:lstStyle/>
          <a:p>
            <a:endParaRPr lang="en-US" sz="2400" dirty="0"/>
          </a:p>
          <a:p>
            <a:r>
              <a:rPr lang="en-US" sz="2400" dirty="0"/>
              <a:t>It’s a good habit to create a </a:t>
            </a:r>
            <a:r>
              <a:rPr lang="en-US" sz="2400" b="1" dirty="0"/>
              <a:t>remote repository </a:t>
            </a:r>
            <a:r>
              <a:rPr lang="en-US" sz="2400" dirty="0"/>
              <a:t>of your code for each project. This way you have a backup in case anything happens to your computer and more importantly, it allows for </a:t>
            </a:r>
            <a:r>
              <a:rPr lang="en-US" sz="2400" b="1" dirty="0"/>
              <a:t>collaboration with other software developers.</a:t>
            </a:r>
          </a:p>
          <a:p>
            <a:endParaRPr lang="en-US" sz="2400" b="1" dirty="0"/>
          </a:p>
          <a:p>
            <a:r>
              <a:rPr lang="en-US" sz="2400" dirty="0"/>
              <a:t>Remote repositories are versions of your project that are hosted on the Internet or network somewhere.  Collaborating involves pushing and pulling data to and from them when you need to share work. </a:t>
            </a:r>
          </a:p>
          <a:p>
            <a:endParaRPr lang="en-US" b="1" dirty="0"/>
          </a:p>
        </p:txBody>
      </p:sp>
    </p:spTree>
    <p:extLst>
      <p:ext uri="{BB962C8B-B14F-4D97-AF65-F5344CB8AC3E}">
        <p14:creationId xmlns:p14="http://schemas.microsoft.com/office/powerpoint/2010/main" val="39506291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github.com</a:t>
            </a:r>
          </a:p>
        </p:txBody>
      </p:sp>
      <p:sp>
        <p:nvSpPr>
          <p:cNvPr id="3" name="Content Placeholder 2"/>
          <p:cNvSpPr>
            <a:spLocks noGrp="1"/>
          </p:cNvSpPr>
          <p:nvPr>
            <p:ph idx="1"/>
          </p:nvPr>
        </p:nvSpPr>
        <p:spPr/>
        <p:txBody>
          <a:bodyPr>
            <a:normAutofit/>
          </a:bodyPr>
          <a:lstStyle/>
          <a:p>
            <a:pPr marL="0" indent="0">
              <a:buNone/>
            </a:pPr>
            <a:endParaRPr lang="en-US" sz="3700" dirty="0"/>
          </a:p>
          <a:p>
            <a:pPr marL="0" indent="0">
              <a:buNone/>
            </a:pPr>
            <a:r>
              <a:rPr lang="en-US" dirty="0"/>
              <a:t>GitHub is free to use for public and open source projects. </a:t>
            </a:r>
          </a:p>
          <a:p>
            <a:pPr marL="0" indent="0">
              <a:buNone/>
            </a:pPr>
            <a:r>
              <a:rPr lang="en-US" sz="2000" dirty="0"/>
              <a:t>(Work together across unlimited private repositories with a paid plan.)</a:t>
            </a:r>
          </a:p>
          <a:p>
            <a:pPr marL="0" indent="0">
              <a:buNone/>
            </a:pPr>
            <a:endParaRPr lang="en-US" dirty="0"/>
          </a:p>
          <a:p>
            <a:pPr marL="0" indent="0">
              <a:buNone/>
            </a:pPr>
            <a:r>
              <a:rPr lang="en-US" b="1" dirty="0"/>
              <a:t>Please create an account</a:t>
            </a:r>
            <a:br>
              <a:rPr lang="en-US" b="1" dirty="0"/>
            </a:br>
            <a:endParaRPr lang="en-US" b="1" dirty="0"/>
          </a:p>
        </p:txBody>
      </p:sp>
    </p:spTree>
    <p:extLst>
      <p:ext uri="{BB962C8B-B14F-4D97-AF65-F5344CB8AC3E}">
        <p14:creationId xmlns:p14="http://schemas.microsoft.com/office/powerpoint/2010/main" val="5661152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GitHub</a:t>
            </a:r>
          </a:p>
        </p:txBody>
      </p:sp>
      <p:sp>
        <p:nvSpPr>
          <p:cNvPr id="3" name="Content Placeholder 2"/>
          <p:cNvSpPr>
            <a:spLocks noGrp="1"/>
          </p:cNvSpPr>
          <p:nvPr>
            <p:ph idx="1"/>
          </p:nvPr>
        </p:nvSpPr>
        <p:spPr/>
        <p:txBody>
          <a:bodyPr>
            <a:normAutofit/>
          </a:bodyPr>
          <a:lstStyle/>
          <a:p>
            <a:pPr marL="0" indent="0">
              <a:buNone/>
            </a:pPr>
            <a:r>
              <a:rPr lang="en-US" sz="3700" dirty="0"/>
              <a:t>Dropdown arrow -&gt;  Your profile</a:t>
            </a:r>
          </a:p>
          <a:p>
            <a:pPr marL="0" indent="0">
              <a:buNone/>
            </a:pPr>
            <a:r>
              <a:rPr lang="en-US" sz="3700" dirty="0"/>
              <a:t>Repositories</a:t>
            </a:r>
          </a:p>
          <a:p>
            <a:pPr marL="0" indent="0">
              <a:buNone/>
            </a:pPr>
            <a:r>
              <a:rPr lang="en-US" sz="3700" dirty="0"/>
              <a:t>New</a:t>
            </a:r>
          </a:p>
          <a:p>
            <a:pPr marL="0" indent="0">
              <a:buNone/>
            </a:pPr>
            <a:r>
              <a:rPr lang="en-US" sz="3700" dirty="0"/>
              <a:t>Repository name:  test</a:t>
            </a:r>
            <a:endParaRPr lang="en-US" dirty="0"/>
          </a:p>
        </p:txBody>
      </p:sp>
    </p:spTree>
    <p:extLst>
      <p:ext uri="{BB962C8B-B14F-4D97-AF65-F5344CB8AC3E}">
        <p14:creationId xmlns:p14="http://schemas.microsoft.com/office/powerpoint/2010/main" val="9929600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749030" y="1297809"/>
            <a:ext cx="11218057" cy="4189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indent="0">
              <a:buNone/>
            </a:pPr>
            <a:r>
              <a:rPr lang="en-US" sz="3200" dirty="0"/>
              <a:t>Sync the local directory on our computer with the remote repository on the GitHub website.</a:t>
            </a:r>
          </a:p>
          <a:p>
            <a:pPr marL="0" indent="0">
              <a:buNone/>
            </a:pPr>
            <a:endParaRPr lang="en-US" sz="3200" dirty="0"/>
          </a:p>
          <a:p>
            <a:pPr marL="0" indent="0">
              <a:buNone/>
            </a:pPr>
            <a:r>
              <a:rPr kumimoji="0" lang="en-US" altLang="en-US" b="1" i="0" u="none" strike="noStrike" cap="none" normalizeH="0" baseline="0" dirty="0" err="1">
                <a:ln>
                  <a:noFill/>
                </a:ln>
                <a:solidFill>
                  <a:srgbClr val="24292E"/>
                </a:solidFill>
                <a:effectLst/>
                <a:latin typeface="SFMono-Regular"/>
              </a:rPr>
              <a:t>git</a:t>
            </a:r>
            <a:r>
              <a:rPr kumimoji="0" lang="en-US" altLang="en-US" b="1" i="0" u="none" strike="noStrike" cap="none" normalizeH="0" baseline="0" dirty="0">
                <a:ln>
                  <a:noFill/>
                </a:ln>
                <a:solidFill>
                  <a:srgbClr val="24292E"/>
                </a:solidFill>
                <a:effectLst/>
                <a:latin typeface="SFMono-Regular"/>
              </a:rPr>
              <a:t> remote add origin https://github.com/trishduce/test.git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rgbClr val="24292E"/>
              </a:solidFill>
              <a:effectLst/>
              <a:latin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rgbClr val="24292E"/>
              </a:solidFill>
              <a:effectLst/>
              <a:latin typeface="SFMono-Regular"/>
            </a:endParaRPr>
          </a:p>
          <a:p>
            <a:pPr marL="0" lvl="0" indent="0" eaLnBrk="0" fontAlgn="base" hangingPunct="0">
              <a:lnSpc>
                <a:spcPct val="100000"/>
              </a:lnSpc>
              <a:spcBef>
                <a:spcPct val="0"/>
              </a:spcBef>
              <a:spcAft>
                <a:spcPct val="0"/>
              </a:spcAft>
              <a:buNone/>
            </a:pPr>
            <a:r>
              <a:rPr lang="en-US" sz="3200" dirty="0"/>
              <a:t>“push” your code to GitHub</a:t>
            </a:r>
          </a:p>
          <a:p>
            <a:pPr marL="0" lvl="0" indent="0" eaLnBrk="0" fontAlgn="base" hangingPunct="0">
              <a:lnSpc>
                <a:spcPct val="100000"/>
              </a:lnSpc>
              <a:spcBef>
                <a:spcPct val="0"/>
              </a:spcBef>
              <a:spcAft>
                <a:spcPct val="0"/>
              </a:spcAft>
              <a:buNone/>
            </a:pPr>
            <a:endParaRPr lang="en-US" altLang="en-US" dirty="0">
              <a:solidFill>
                <a:srgbClr val="24292E"/>
              </a:solidFill>
              <a:latin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24292E"/>
                </a:solidFill>
                <a:effectLst/>
                <a:latin typeface="SFMono-Regular"/>
              </a:rPr>
              <a:t>git push -u origin master</a:t>
            </a:r>
            <a:r>
              <a:rPr kumimoji="0" lang="en-US" altLang="en-US" b="1" i="0" u="none" strike="noStrike" cap="none" normalizeH="0" baseline="0" dirty="0">
                <a:ln>
                  <a:noFill/>
                </a:ln>
                <a:solidFill>
                  <a:schemeClr val="tx1"/>
                </a:solidFill>
                <a:effectLst/>
              </a:rPr>
              <a:t> </a:t>
            </a:r>
            <a:endParaRPr kumimoji="0" lang="en-US" altLang="en-US" b="1"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718816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650815"/>
            <a:ext cx="7588495" cy="817832"/>
          </a:xfrm>
        </p:spPr>
        <p:txBody>
          <a:bodyPr>
            <a:normAutofit/>
          </a:bodyPr>
          <a:lstStyle/>
          <a:p>
            <a:r>
              <a:rPr lang="en-US" sz="4400" dirty="0"/>
              <a:t>GIT – Working with Remotes</a:t>
            </a:r>
          </a:p>
        </p:txBody>
      </p:sp>
      <p:sp>
        <p:nvSpPr>
          <p:cNvPr id="4" name="Text Placeholder 3"/>
          <p:cNvSpPr>
            <a:spLocks noGrp="1"/>
          </p:cNvSpPr>
          <p:nvPr>
            <p:ph type="body" sz="half" idx="2"/>
          </p:nvPr>
        </p:nvSpPr>
        <p:spPr>
          <a:xfrm>
            <a:off x="839788" y="1593029"/>
            <a:ext cx="9964470" cy="4311052"/>
          </a:xfrm>
        </p:spPr>
        <p:txBody>
          <a:bodyPr>
            <a:normAutofit fontScale="92500" lnSpcReduction="20000"/>
          </a:bodyPr>
          <a:lstStyle/>
          <a:p>
            <a:r>
              <a:rPr lang="en-US" sz="2400" dirty="0"/>
              <a:t>To get data from your remote projects, you can run:</a:t>
            </a:r>
          </a:p>
          <a:p>
            <a:pPr>
              <a:spcBef>
                <a:spcPts val="600"/>
              </a:spcBef>
            </a:pPr>
            <a:br>
              <a:rPr lang="en-US" sz="2400" dirty="0"/>
            </a:br>
            <a:r>
              <a:rPr lang="en-US" sz="2400" b="1" dirty="0" err="1"/>
              <a:t>git</a:t>
            </a:r>
            <a:r>
              <a:rPr lang="en-US" sz="2400" b="1" dirty="0"/>
              <a:t> fetch origin </a:t>
            </a:r>
            <a:r>
              <a:rPr lang="en-US" sz="2400" dirty="0"/>
              <a:t>  </a:t>
            </a:r>
          </a:p>
          <a:p>
            <a:pPr>
              <a:spcBef>
                <a:spcPts val="600"/>
              </a:spcBef>
            </a:pPr>
            <a:r>
              <a:rPr lang="en-US" sz="2400" dirty="0"/>
              <a:t>Fetch all of the branches from the remote repository. This also downloads all of the required commits and files from the remote repository. Gives you a chance to review changes before integrating them into your copy of the project. </a:t>
            </a:r>
          </a:p>
          <a:p>
            <a:pPr>
              <a:spcBef>
                <a:spcPts val="600"/>
              </a:spcBef>
            </a:pPr>
            <a:r>
              <a:rPr lang="en-US" sz="2400" dirty="0"/>
              <a:t>       </a:t>
            </a:r>
            <a:r>
              <a:rPr lang="en-US" sz="2400" b="1" dirty="0" err="1"/>
              <a:t>git</a:t>
            </a:r>
            <a:r>
              <a:rPr lang="en-US" sz="2400" b="1" dirty="0"/>
              <a:t> diff master origin/master</a:t>
            </a:r>
            <a:br>
              <a:rPr lang="en-US" sz="2400" dirty="0"/>
            </a:br>
            <a:br>
              <a:rPr lang="en-US" sz="2400" dirty="0"/>
            </a:br>
            <a:r>
              <a:rPr lang="en-US" sz="2400" b="1" dirty="0" err="1"/>
              <a:t>git</a:t>
            </a:r>
            <a:r>
              <a:rPr lang="en-US" sz="2400" b="1" dirty="0"/>
              <a:t> merge origin/master</a:t>
            </a:r>
          </a:p>
          <a:p>
            <a:pPr>
              <a:spcBef>
                <a:spcPts val="600"/>
              </a:spcBef>
            </a:pPr>
            <a:r>
              <a:rPr lang="en-US" sz="2400" dirty="0"/>
              <a:t>Merges changes into your local repository. </a:t>
            </a:r>
          </a:p>
          <a:p>
            <a:pPr>
              <a:spcBef>
                <a:spcPts val="600"/>
              </a:spcBef>
            </a:pPr>
            <a:endParaRPr lang="en-US" sz="2400" dirty="0"/>
          </a:p>
          <a:p>
            <a:pPr>
              <a:spcBef>
                <a:spcPts val="600"/>
              </a:spcBef>
            </a:pPr>
            <a:r>
              <a:rPr lang="en-US" sz="2400" b="1" dirty="0"/>
              <a:t>git pull origin  </a:t>
            </a:r>
            <a:r>
              <a:rPr lang="en-US" sz="2400" dirty="0"/>
              <a:t>(rolls git fetch and git merge into a single command) </a:t>
            </a:r>
            <a:br>
              <a:rPr lang="en-US" sz="2400" dirty="0"/>
            </a:br>
            <a:br>
              <a:rPr lang="en-US" sz="2400" dirty="0"/>
            </a:br>
            <a:r>
              <a:rPr lang="en-US" sz="2400" dirty="0"/>
              <a:t>should consider a fetch/merge or pull right before you start working in your  local repository 	</a:t>
            </a:r>
          </a:p>
        </p:txBody>
      </p:sp>
      <p:sp>
        <p:nvSpPr>
          <p:cNvPr id="6" name="Footer Placeholder 4"/>
          <p:cNvSpPr>
            <a:spLocks noGrp="1"/>
          </p:cNvSpPr>
          <p:nvPr>
            <p:ph type="ftr" sz="quarter" idx="10"/>
          </p:nvPr>
        </p:nvSpPr>
        <p:spPr>
          <a:xfrm>
            <a:off x="4560849" y="6311900"/>
            <a:ext cx="3510775" cy="365125"/>
          </a:xfrm>
        </p:spPr>
        <p:txBody>
          <a:bodyPr/>
          <a:lstStyle/>
          <a:p>
            <a:r>
              <a:rPr lang="en-US" dirty="0"/>
              <a:t>Pro </a:t>
            </a:r>
            <a:r>
              <a:rPr lang="en-US" dirty="0" err="1"/>
              <a:t>Git</a:t>
            </a:r>
            <a:r>
              <a:rPr lang="en-US" dirty="0"/>
              <a:t> Book – Scott Chacon and Ben Straub</a:t>
            </a:r>
          </a:p>
          <a:p>
            <a:endParaRPr lang="en-US" dirty="0"/>
          </a:p>
        </p:txBody>
      </p:sp>
    </p:spTree>
    <p:extLst>
      <p:ext uri="{BB962C8B-B14F-4D97-AF65-F5344CB8AC3E}">
        <p14:creationId xmlns:p14="http://schemas.microsoft.com/office/powerpoint/2010/main" val="28171679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650815"/>
            <a:ext cx="7588495" cy="817832"/>
          </a:xfrm>
        </p:spPr>
        <p:txBody>
          <a:bodyPr>
            <a:normAutofit/>
          </a:bodyPr>
          <a:lstStyle/>
          <a:p>
            <a:r>
              <a:rPr lang="en-US" sz="4400" dirty="0"/>
              <a:t>GIT – Working with Remotes</a:t>
            </a:r>
          </a:p>
        </p:txBody>
      </p:sp>
      <p:sp>
        <p:nvSpPr>
          <p:cNvPr id="4" name="Text Placeholder 3"/>
          <p:cNvSpPr>
            <a:spLocks noGrp="1"/>
          </p:cNvSpPr>
          <p:nvPr>
            <p:ph type="body" sz="half" idx="2"/>
          </p:nvPr>
        </p:nvSpPr>
        <p:spPr>
          <a:xfrm>
            <a:off x="693414" y="1549998"/>
            <a:ext cx="9964470" cy="4311052"/>
          </a:xfrm>
        </p:spPr>
        <p:txBody>
          <a:bodyPr>
            <a:normAutofit/>
          </a:bodyPr>
          <a:lstStyle/>
          <a:p>
            <a:r>
              <a:rPr lang="en-US" sz="2400" b="1" dirty="0"/>
              <a:t>git remote -v  </a:t>
            </a:r>
            <a:r>
              <a:rPr lang="en-US" sz="2400" dirty="0"/>
              <a:t>  </a:t>
            </a:r>
          </a:p>
          <a:p>
            <a:pPr>
              <a:spcBef>
                <a:spcPts val="600"/>
              </a:spcBef>
            </a:pPr>
            <a:r>
              <a:rPr lang="en-US" sz="2400" dirty="0"/>
              <a:t>See which remote servers you have configured.  If you cloned your repository, you should at least see origin – the default name </a:t>
            </a:r>
            <a:r>
              <a:rPr lang="en-US" sz="2400" dirty="0" err="1"/>
              <a:t>Git</a:t>
            </a:r>
            <a:r>
              <a:rPr lang="en-US" sz="2400" dirty="0"/>
              <a:t> gives to the server you cloned from. </a:t>
            </a:r>
          </a:p>
          <a:p>
            <a:pPr>
              <a:spcBef>
                <a:spcPts val="600"/>
              </a:spcBef>
            </a:pPr>
            <a:br>
              <a:rPr lang="en-US" sz="2400" dirty="0"/>
            </a:br>
            <a:r>
              <a:rPr lang="en-US" sz="2400" b="1" dirty="0" err="1"/>
              <a:t>git</a:t>
            </a:r>
            <a:r>
              <a:rPr lang="en-US" sz="2400" b="1" dirty="0"/>
              <a:t> push origin master</a:t>
            </a:r>
          </a:p>
          <a:p>
            <a:pPr>
              <a:spcBef>
                <a:spcPts val="600"/>
              </a:spcBef>
            </a:pPr>
            <a:r>
              <a:rPr lang="en-US" sz="2400" dirty="0"/>
              <a:t>When you have your project at a point you want to share, you have to push it upstream.  </a:t>
            </a:r>
            <a:r>
              <a:rPr lang="en-US" sz="2400" dirty="0" err="1"/>
              <a:t>git</a:t>
            </a:r>
            <a:r>
              <a:rPr lang="en-US" sz="2400" dirty="0"/>
              <a:t> push [remote-name] [branch-name]	</a:t>
            </a:r>
          </a:p>
        </p:txBody>
      </p:sp>
      <p:sp>
        <p:nvSpPr>
          <p:cNvPr id="6" name="Footer Placeholder 4"/>
          <p:cNvSpPr>
            <a:spLocks noGrp="1"/>
          </p:cNvSpPr>
          <p:nvPr>
            <p:ph type="ftr" sz="quarter" idx="10"/>
          </p:nvPr>
        </p:nvSpPr>
        <p:spPr>
          <a:xfrm>
            <a:off x="4560849" y="6311900"/>
            <a:ext cx="3510775" cy="365125"/>
          </a:xfrm>
        </p:spPr>
        <p:txBody>
          <a:bodyPr/>
          <a:lstStyle/>
          <a:p>
            <a:r>
              <a:rPr lang="en-US" dirty="0"/>
              <a:t>Pro </a:t>
            </a:r>
            <a:r>
              <a:rPr lang="en-US" dirty="0" err="1"/>
              <a:t>Git</a:t>
            </a:r>
            <a:r>
              <a:rPr lang="en-US" dirty="0"/>
              <a:t> Book – Scott Chacon and Ben Straub</a:t>
            </a:r>
          </a:p>
          <a:p>
            <a:endParaRPr lang="en-US" dirty="0"/>
          </a:p>
        </p:txBody>
      </p:sp>
    </p:spTree>
    <p:extLst>
      <p:ext uri="{BB962C8B-B14F-4D97-AF65-F5344CB8AC3E}">
        <p14:creationId xmlns:p14="http://schemas.microsoft.com/office/powerpoint/2010/main" val="14052204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Create a New Repository</a:t>
            </a:r>
          </a:p>
        </p:txBody>
      </p:sp>
      <p:sp>
        <p:nvSpPr>
          <p:cNvPr id="3" name="Content Placeholder 2"/>
          <p:cNvSpPr>
            <a:spLocks noGrp="1"/>
          </p:cNvSpPr>
          <p:nvPr>
            <p:ph idx="1"/>
          </p:nvPr>
        </p:nvSpPr>
        <p:spPr/>
        <p:txBody>
          <a:bodyPr>
            <a:normAutofit lnSpcReduction="10000"/>
          </a:bodyPr>
          <a:lstStyle/>
          <a:p>
            <a:pPr marL="0" indent="0">
              <a:buNone/>
            </a:pPr>
            <a:r>
              <a:rPr lang="en-US" sz="2600" dirty="0"/>
              <a:t>git clone https://github.com/trishduce/test.git</a:t>
            </a:r>
            <a:br>
              <a:rPr lang="en-US" sz="2600" dirty="0"/>
            </a:br>
            <a:r>
              <a:rPr lang="en-US" sz="2600" dirty="0"/>
              <a:t>cd test</a:t>
            </a:r>
            <a:br>
              <a:rPr lang="en-US" sz="2600" dirty="0"/>
            </a:br>
            <a:r>
              <a:rPr lang="en-US" sz="2600" dirty="0"/>
              <a:t>touch README.md</a:t>
            </a:r>
            <a:br>
              <a:rPr lang="en-US" sz="2600" dirty="0"/>
            </a:br>
            <a:r>
              <a:rPr lang="en-US" sz="2600" dirty="0"/>
              <a:t>git add README.md</a:t>
            </a:r>
            <a:br>
              <a:rPr lang="en-US" sz="2600" dirty="0"/>
            </a:br>
            <a:r>
              <a:rPr lang="en-US" sz="2600" dirty="0"/>
              <a:t>git commit –m “add README”</a:t>
            </a:r>
            <a:br>
              <a:rPr lang="en-US" sz="2600" dirty="0"/>
            </a:br>
            <a:r>
              <a:rPr lang="en-US" sz="2600" dirty="0"/>
              <a:t>git push –u origin master</a:t>
            </a:r>
          </a:p>
          <a:p>
            <a:endParaRPr lang="en-US" sz="2600" dirty="0"/>
          </a:p>
          <a:p>
            <a:pPr marL="0" indent="0">
              <a:buNone/>
            </a:pPr>
            <a:r>
              <a:rPr lang="en-US" sz="2600" dirty="0"/>
              <a:t>“origin” is the default name for the connection </a:t>
            </a:r>
            <a:r>
              <a:rPr lang="en-US" sz="2600" dirty="0" err="1"/>
              <a:t>url</a:t>
            </a:r>
            <a:r>
              <a:rPr lang="en-US" sz="2600" dirty="0"/>
              <a:t> to the base repository on the central server.</a:t>
            </a:r>
          </a:p>
          <a:p>
            <a:pPr marL="0" indent="0">
              <a:buNone/>
            </a:pPr>
            <a:endParaRPr lang="en-US" sz="2600" dirty="0"/>
          </a:p>
          <a:p>
            <a:pPr marL="0" indent="0">
              <a:buNone/>
            </a:pPr>
            <a:r>
              <a:rPr lang="en-US" sz="2600" dirty="0"/>
              <a:t>The main branch is called “master”.</a:t>
            </a:r>
          </a:p>
        </p:txBody>
      </p:sp>
      <p:sp>
        <p:nvSpPr>
          <p:cNvPr id="4" name="Footer Placeholder 4"/>
          <p:cNvSpPr>
            <a:spLocks noGrp="1"/>
          </p:cNvSpPr>
          <p:nvPr>
            <p:ph type="ftr" sz="quarter" idx="10"/>
          </p:nvPr>
        </p:nvSpPr>
        <p:spPr>
          <a:xfrm>
            <a:off x="4560849" y="6311900"/>
            <a:ext cx="3510775" cy="365125"/>
          </a:xfrm>
        </p:spPr>
        <p:txBody>
          <a:bodyPr/>
          <a:lstStyle/>
          <a:p>
            <a:r>
              <a:rPr lang="en-US" dirty="0"/>
              <a:t>Pro </a:t>
            </a:r>
            <a:r>
              <a:rPr lang="en-US" dirty="0" err="1"/>
              <a:t>Git</a:t>
            </a:r>
            <a:r>
              <a:rPr lang="en-US" dirty="0"/>
              <a:t> Book – Scott Chacon and Ben Straub</a:t>
            </a:r>
          </a:p>
          <a:p>
            <a:endParaRPr lang="en-US" dirty="0"/>
          </a:p>
        </p:txBody>
      </p:sp>
    </p:spTree>
    <p:extLst>
      <p:ext uri="{BB962C8B-B14F-4D97-AF65-F5344CB8AC3E}">
        <p14:creationId xmlns:p14="http://schemas.microsoft.com/office/powerpoint/2010/main" val="31528872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650815"/>
            <a:ext cx="7588495" cy="817832"/>
          </a:xfrm>
        </p:spPr>
        <p:txBody>
          <a:bodyPr>
            <a:normAutofit/>
          </a:bodyPr>
          <a:lstStyle/>
          <a:p>
            <a:r>
              <a:rPr lang="en-US" sz="4400" dirty="0"/>
              <a:t>GIT – Working with Remotes</a:t>
            </a:r>
          </a:p>
        </p:txBody>
      </p:sp>
      <p:sp>
        <p:nvSpPr>
          <p:cNvPr id="4" name="Text Placeholder 3"/>
          <p:cNvSpPr>
            <a:spLocks noGrp="1"/>
          </p:cNvSpPr>
          <p:nvPr>
            <p:ph type="body" sz="half" idx="2"/>
          </p:nvPr>
        </p:nvSpPr>
        <p:spPr>
          <a:xfrm>
            <a:off x="693414" y="1549998"/>
            <a:ext cx="9964470" cy="4311052"/>
          </a:xfrm>
        </p:spPr>
        <p:txBody>
          <a:bodyPr>
            <a:normAutofit/>
          </a:bodyPr>
          <a:lstStyle/>
          <a:p>
            <a:endParaRPr lang="en-US" sz="2400" dirty="0"/>
          </a:p>
          <a:p>
            <a:r>
              <a:rPr lang="en-US" sz="2400" b="1" dirty="0"/>
              <a:t>Adding Collaborators </a:t>
            </a:r>
          </a:p>
          <a:p>
            <a:pPr marL="342900" indent="-342900">
              <a:buFont typeface="Arial" panose="020B0604020202020204" pitchFamily="34" charset="0"/>
              <a:buChar char="•"/>
            </a:pPr>
            <a:r>
              <a:rPr lang="en-US" sz="2400" dirty="0"/>
              <a:t>Click on Settings for the Repository </a:t>
            </a:r>
          </a:p>
          <a:p>
            <a:pPr marL="342900" indent="-342900">
              <a:buFont typeface="Arial" panose="020B0604020202020204" pitchFamily="34" charset="0"/>
              <a:buChar char="•"/>
            </a:pPr>
            <a:r>
              <a:rPr lang="en-US" sz="2400" dirty="0"/>
              <a:t>Click on Collaborators under Access</a:t>
            </a:r>
          </a:p>
          <a:p>
            <a:endParaRPr lang="en-US" sz="2400" b="1" dirty="0"/>
          </a:p>
          <a:p>
            <a:endParaRPr lang="en-US" sz="2400" dirty="0"/>
          </a:p>
        </p:txBody>
      </p:sp>
      <p:sp>
        <p:nvSpPr>
          <p:cNvPr id="6" name="Footer Placeholder 4"/>
          <p:cNvSpPr>
            <a:spLocks noGrp="1"/>
          </p:cNvSpPr>
          <p:nvPr>
            <p:ph type="ftr" sz="quarter" idx="10"/>
          </p:nvPr>
        </p:nvSpPr>
        <p:spPr>
          <a:xfrm>
            <a:off x="4560849" y="6311900"/>
            <a:ext cx="3510775" cy="365125"/>
          </a:xfrm>
        </p:spPr>
        <p:txBody>
          <a:bodyPr/>
          <a:lstStyle/>
          <a:p>
            <a:r>
              <a:rPr lang="en-US" dirty="0"/>
              <a:t>Pro </a:t>
            </a:r>
            <a:r>
              <a:rPr lang="en-US" dirty="0" err="1"/>
              <a:t>Git</a:t>
            </a:r>
            <a:r>
              <a:rPr lang="en-US" dirty="0"/>
              <a:t> Book – Scott Chacon and Ben Straub</a:t>
            </a:r>
          </a:p>
          <a:p>
            <a:endParaRPr lang="en-US" dirty="0"/>
          </a:p>
        </p:txBody>
      </p:sp>
    </p:spTree>
    <p:extLst>
      <p:ext uri="{BB962C8B-B14F-4D97-AF65-F5344CB8AC3E}">
        <p14:creationId xmlns:p14="http://schemas.microsoft.com/office/powerpoint/2010/main" val="37979289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650815"/>
            <a:ext cx="7588495" cy="817832"/>
          </a:xfrm>
        </p:spPr>
        <p:txBody>
          <a:bodyPr>
            <a:normAutofit/>
          </a:bodyPr>
          <a:lstStyle/>
          <a:p>
            <a:r>
              <a:rPr lang="en-US" sz="4400" dirty="0"/>
              <a:t>GIT – Conflicts</a:t>
            </a:r>
          </a:p>
        </p:txBody>
      </p:sp>
      <p:sp>
        <p:nvSpPr>
          <p:cNvPr id="4" name="Text Placeholder 3"/>
          <p:cNvSpPr>
            <a:spLocks noGrp="1"/>
          </p:cNvSpPr>
          <p:nvPr>
            <p:ph type="body" sz="half" idx="2"/>
          </p:nvPr>
        </p:nvSpPr>
        <p:spPr>
          <a:xfrm>
            <a:off x="693414" y="1549998"/>
            <a:ext cx="9964470" cy="4311052"/>
          </a:xfrm>
        </p:spPr>
        <p:txBody>
          <a:bodyPr>
            <a:normAutofit/>
          </a:bodyPr>
          <a:lstStyle/>
          <a:p>
            <a:r>
              <a:rPr lang="en-US" sz="2400" dirty="0"/>
              <a:t>Sometimes you get merge conflicts when merging, pulling or pushing a branch</a:t>
            </a:r>
            <a:br>
              <a:rPr lang="en-US" sz="2400" dirty="0"/>
            </a:br>
            <a:br>
              <a:rPr lang="en-US" sz="2400" b="1" dirty="0"/>
            </a:br>
            <a:r>
              <a:rPr lang="en-US" sz="2400" b="1" dirty="0"/>
              <a:t>A merge conflict usually occurs when you have commits in your current branch which are not in the other branch, and vice versa</a:t>
            </a:r>
            <a:r>
              <a:rPr lang="en-US" sz="2400" dirty="0"/>
              <a:t>. </a:t>
            </a:r>
          </a:p>
          <a:p>
            <a:pPr>
              <a:spcBef>
                <a:spcPts val="600"/>
              </a:spcBef>
            </a:pPr>
            <a:br>
              <a:rPr lang="en-US" sz="2400" dirty="0"/>
            </a:br>
            <a:r>
              <a:rPr lang="en-US" sz="2400" dirty="0"/>
              <a:t>During a merge if only one side changed a certain piece of code, the changes are applied.   The merge conflicts occur when there are disagreeing changes.  To resolve conflicts, you have to decide what the end result should be.</a:t>
            </a:r>
          </a:p>
          <a:p>
            <a:pPr>
              <a:spcBef>
                <a:spcPts val="600"/>
              </a:spcBef>
            </a:pPr>
            <a:r>
              <a:rPr lang="en-US" sz="2400" dirty="0"/>
              <a:t>  	</a:t>
            </a:r>
            <a:br>
              <a:rPr lang="en-US" sz="2400" dirty="0"/>
            </a:br>
            <a:r>
              <a:rPr lang="en-US" sz="2400" b="1" dirty="0"/>
              <a:t>Need to edit file (look at conflicts), save file, stage file, commit, push</a:t>
            </a:r>
          </a:p>
        </p:txBody>
      </p:sp>
      <p:sp>
        <p:nvSpPr>
          <p:cNvPr id="6" name="Footer Placeholder 4"/>
          <p:cNvSpPr>
            <a:spLocks noGrp="1"/>
          </p:cNvSpPr>
          <p:nvPr>
            <p:ph type="ftr" sz="quarter" idx="10"/>
          </p:nvPr>
        </p:nvSpPr>
        <p:spPr>
          <a:xfrm>
            <a:off x="4560849" y="6311900"/>
            <a:ext cx="3510775" cy="365125"/>
          </a:xfrm>
        </p:spPr>
        <p:txBody>
          <a:bodyPr/>
          <a:lstStyle/>
          <a:p>
            <a:r>
              <a:rPr lang="en-US" dirty="0"/>
              <a:t>Pro </a:t>
            </a:r>
            <a:r>
              <a:rPr lang="en-US" dirty="0" err="1"/>
              <a:t>Git</a:t>
            </a:r>
            <a:r>
              <a:rPr lang="en-US" dirty="0"/>
              <a:t> Book – Scott Chacon and Ben Straub</a:t>
            </a:r>
          </a:p>
          <a:p>
            <a:endParaRPr lang="en-US" dirty="0"/>
          </a:p>
        </p:txBody>
      </p:sp>
    </p:spTree>
    <p:extLst>
      <p:ext uri="{BB962C8B-B14F-4D97-AF65-F5344CB8AC3E}">
        <p14:creationId xmlns:p14="http://schemas.microsoft.com/office/powerpoint/2010/main" val="30807947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GitHub Desktop</a:t>
            </a:r>
          </a:p>
        </p:txBody>
      </p:sp>
      <p:sp>
        <p:nvSpPr>
          <p:cNvPr id="3" name="Content Placeholder 2"/>
          <p:cNvSpPr>
            <a:spLocks noGrp="1"/>
          </p:cNvSpPr>
          <p:nvPr>
            <p:ph idx="1"/>
          </p:nvPr>
        </p:nvSpPr>
        <p:spPr/>
        <p:txBody>
          <a:bodyPr>
            <a:normAutofit/>
          </a:bodyPr>
          <a:lstStyle/>
          <a:p>
            <a:pPr marL="0" indent="0">
              <a:buNone/>
            </a:pPr>
            <a:r>
              <a:rPr lang="en-US" sz="3700" dirty="0">
                <a:hlinkClick r:id="rId2"/>
              </a:rPr>
              <a:t>https://desktop.github.com/</a:t>
            </a:r>
            <a:endParaRPr lang="en-US" sz="3700" dirty="0"/>
          </a:p>
          <a:p>
            <a:pPr marL="0" indent="0">
              <a:buNone/>
            </a:pPr>
            <a:endParaRPr lang="en-US" sz="3700" dirty="0"/>
          </a:p>
          <a:p>
            <a:pPr marL="0" indent="0">
              <a:buNone/>
            </a:pPr>
            <a:r>
              <a:rPr lang="en-US" sz="3700" dirty="0"/>
              <a:t>GitHub Desktop is an application that enables you to interact with GitHub using a GUI instead of the command line or a web browser.</a:t>
            </a:r>
          </a:p>
          <a:p>
            <a:pPr marL="0" indent="0">
              <a:buNone/>
            </a:pPr>
            <a:endParaRPr lang="en-US" dirty="0"/>
          </a:p>
        </p:txBody>
      </p:sp>
    </p:spTree>
    <p:extLst>
      <p:ext uri="{BB962C8B-B14F-4D97-AF65-F5344CB8AC3E}">
        <p14:creationId xmlns:p14="http://schemas.microsoft.com/office/powerpoint/2010/main" val="40403050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GitHub Contributing to a Project</a:t>
            </a:r>
          </a:p>
        </p:txBody>
      </p:sp>
      <p:sp>
        <p:nvSpPr>
          <p:cNvPr id="3" name="Content Placeholder 2"/>
          <p:cNvSpPr>
            <a:spLocks noGrp="1"/>
          </p:cNvSpPr>
          <p:nvPr>
            <p:ph idx="1"/>
          </p:nvPr>
        </p:nvSpPr>
        <p:spPr/>
        <p:txBody>
          <a:bodyPr>
            <a:normAutofit/>
          </a:bodyPr>
          <a:lstStyle/>
          <a:p>
            <a:pPr marL="0" indent="0">
              <a:buNone/>
            </a:pPr>
            <a:r>
              <a:rPr lang="en-US" sz="3700" dirty="0"/>
              <a:t>Forking Projects</a:t>
            </a:r>
          </a:p>
          <a:p>
            <a:pPr marL="0" indent="0">
              <a:buNone/>
            </a:pPr>
            <a:endParaRPr lang="en-US" sz="3700" dirty="0"/>
          </a:p>
          <a:p>
            <a:pPr marL="0" indent="0">
              <a:buNone/>
            </a:pPr>
            <a:r>
              <a:rPr lang="en-US" dirty="0"/>
              <a:t>If you want to contribute to an existing project to which you don’t have push access, you can “fork” the project. When you “fork” a project, GitHub will make a copy of the project that is entirely yours; it lives in your namespace, and you can push to it.</a:t>
            </a:r>
          </a:p>
        </p:txBody>
      </p:sp>
    </p:spTree>
    <p:extLst>
      <p:ext uri="{BB962C8B-B14F-4D97-AF65-F5344CB8AC3E}">
        <p14:creationId xmlns:p14="http://schemas.microsoft.com/office/powerpoint/2010/main" val="40428869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GitHub Contributing to a Project</a:t>
            </a:r>
          </a:p>
        </p:txBody>
      </p:sp>
      <p:sp>
        <p:nvSpPr>
          <p:cNvPr id="3" name="Content Placeholder 2"/>
          <p:cNvSpPr>
            <a:spLocks noGrp="1"/>
          </p:cNvSpPr>
          <p:nvPr>
            <p:ph idx="1"/>
          </p:nvPr>
        </p:nvSpPr>
        <p:spPr/>
        <p:txBody>
          <a:bodyPr>
            <a:normAutofit/>
          </a:bodyPr>
          <a:lstStyle/>
          <a:p>
            <a:pPr marL="0" indent="0">
              <a:buNone/>
            </a:pPr>
            <a:endParaRPr lang="en-US" sz="3700" dirty="0"/>
          </a:p>
          <a:p>
            <a:pPr marL="0" indent="0">
              <a:buNone/>
            </a:pPr>
            <a:r>
              <a:rPr lang="en-US" dirty="0"/>
              <a:t>This way, projects don’t have to worry about adding users as collaborators to give them push access. People can fork a project, push to it, and contribute their changes back to the original repository by creating what’s called a Pull Request</a:t>
            </a:r>
          </a:p>
        </p:txBody>
      </p:sp>
    </p:spTree>
    <p:extLst>
      <p:ext uri="{BB962C8B-B14F-4D97-AF65-F5344CB8AC3E}">
        <p14:creationId xmlns:p14="http://schemas.microsoft.com/office/powerpoint/2010/main" val="33473571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GitHub</a:t>
            </a:r>
          </a:p>
        </p:txBody>
      </p:sp>
      <p:sp>
        <p:nvSpPr>
          <p:cNvPr id="3" name="Content Placeholder 2"/>
          <p:cNvSpPr>
            <a:spLocks noGrp="1"/>
          </p:cNvSpPr>
          <p:nvPr>
            <p:ph idx="1"/>
          </p:nvPr>
        </p:nvSpPr>
        <p:spPr/>
        <p:txBody>
          <a:bodyPr>
            <a:normAutofit/>
          </a:bodyPr>
          <a:lstStyle/>
          <a:p>
            <a:pPr marL="0" indent="0">
              <a:buNone/>
            </a:pPr>
            <a:r>
              <a:rPr lang="en-US" sz="3700" dirty="0"/>
              <a:t>Click on Settings of repository </a:t>
            </a:r>
          </a:p>
          <a:p>
            <a:pPr marL="0" indent="0">
              <a:buNone/>
            </a:pPr>
            <a:endParaRPr lang="en-US" sz="3700" dirty="0"/>
          </a:p>
          <a:p>
            <a:pPr marL="0" indent="0">
              <a:buNone/>
            </a:pPr>
            <a:r>
              <a:rPr lang="en-US" sz="3700" dirty="0"/>
              <a:t>Delete repository</a:t>
            </a:r>
          </a:p>
        </p:txBody>
      </p:sp>
    </p:spTree>
    <p:extLst>
      <p:ext uri="{BB962C8B-B14F-4D97-AF65-F5344CB8AC3E}">
        <p14:creationId xmlns:p14="http://schemas.microsoft.com/office/powerpoint/2010/main" val="13488457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188141"/>
            <a:ext cx="7781698" cy="1600200"/>
          </a:xfrm>
        </p:spPr>
        <p:txBody>
          <a:bodyPr>
            <a:normAutofit/>
          </a:bodyPr>
          <a:lstStyle/>
          <a:p>
            <a:r>
              <a:rPr lang="en-US" sz="4400" b="1" dirty="0" err="1"/>
              <a:t>Git</a:t>
            </a:r>
            <a:r>
              <a:rPr lang="en-US" sz="4400" b="1" dirty="0"/>
              <a:t> Hub – </a:t>
            </a:r>
            <a:r>
              <a:rPr lang="en-US" sz="4400" b="1" dirty="0" err="1"/>
              <a:t>git</a:t>
            </a:r>
            <a:r>
              <a:rPr lang="en-US" sz="4400" b="1" dirty="0"/>
              <a:t> cheat sheet</a:t>
            </a:r>
            <a:br>
              <a:rPr lang="en-US" sz="4400" dirty="0"/>
            </a:br>
            <a:endParaRPr lang="en-US" sz="4400" dirty="0"/>
          </a:p>
        </p:txBody>
      </p:sp>
      <p:sp>
        <p:nvSpPr>
          <p:cNvPr id="6" name="Footer Placeholder 4"/>
          <p:cNvSpPr>
            <a:spLocks noGrp="1"/>
          </p:cNvSpPr>
          <p:nvPr>
            <p:ph type="ftr" sz="quarter" idx="10"/>
          </p:nvPr>
        </p:nvSpPr>
        <p:spPr>
          <a:xfrm>
            <a:off x="4560849" y="6311900"/>
            <a:ext cx="3510775" cy="365125"/>
          </a:xfrm>
        </p:spPr>
        <p:txBody>
          <a:bodyPr/>
          <a:lstStyle/>
          <a:p>
            <a:r>
              <a:rPr lang="en-US" dirty="0"/>
              <a:t>Pro </a:t>
            </a:r>
            <a:r>
              <a:rPr lang="en-US" dirty="0" err="1"/>
              <a:t>Git</a:t>
            </a:r>
            <a:r>
              <a:rPr lang="en-US" dirty="0"/>
              <a:t> Book – Scott Chacon and Ben Straub</a:t>
            </a:r>
          </a:p>
          <a:p>
            <a:endParaRPr lang="en-US" dirty="0"/>
          </a:p>
        </p:txBody>
      </p:sp>
      <p:sp>
        <p:nvSpPr>
          <p:cNvPr id="3" name="Text Placeholder 2"/>
          <p:cNvSpPr>
            <a:spLocks noGrp="1"/>
          </p:cNvSpPr>
          <p:nvPr>
            <p:ph type="body" sz="half" idx="2"/>
          </p:nvPr>
        </p:nvSpPr>
        <p:spPr>
          <a:xfrm>
            <a:off x="839788" y="1702397"/>
            <a:ext cx="8573153" cy="4254500"/>
          </a:xfrm>
        </p:spPr>
        <p:txBody>
          <a:bodyPr>
            <a:normAutofit/>
          </a:bodyPr>
          <a:lstStyle/>
          <a:p>
            <a:r>
              <a:rPr lang="en-US" sz="2400" dirty="0"/>
              <a:t>https://education.github.com/git-cheat-sheet-education.pdf</a:t>
            </a:r>
            <a:endParaRPr lang="en-US" dirty="0"/>
          </a:p>
        </p:txBody>
      </p:sp>
    </p:spTree>
    <p:extLst>
      <p:ext uri="{BB962C8B-B14F-4D97-AF65-F5344CB8AC3E}">
        <p14:creationId xmlns:p14="http://schemas.microsoft.com/office/powerpoint/2010/main" val="1283830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650815"/>
            <a:ext cx="7588495" cy="817832"/>
          </a:xfrm>
        </p:spPr>
        <p:txBody>
          <a:bodyPr>
            <a:normAutofit/>
          </a:bodyPr>
          <a:lstStyle/>
          <a:p>
            <a:r>
              <a:rPr lang="en-US" sz="4400" dirty="0"/>
              <a:t>GIT – Branching</a:t>
            </a:r>
          </a:p>
        </p:txBody>
      </p:sp>
      <p:sp>
        <p:nvSpPr>
          <p:cNvPr id="4" name="Text Placeholder 3"/>
          <p:cNvSpPr>
            <a:spLocks noGrp="1"/>
          </p:cNvSpPr>
          <p:nvPr>
            <p:ph type="body" sz="half" idx="2"/>
          </p:nvPr>
        </p:nvSpPr>
        <p:spPr>
          <a:xfrm>
            <a:off x="693414" y="1549998"/>
            <a:ext cx="9964470" cy="4311052"/>
          </a:xfrm>
        </p:spPr>
        <p:txBody>
          <a:bodyPr>
            <a:normAutofit/>
          </a:bodyPr>
          <a:lstStyle/>
          <a:p>
            <a:r>
              <a:rPr lang="en-US" sz="2400" dirty="0"/>
              <a:t>Branching means you diverge from the main line of development and continue to do work without messing with that main line. </a:t>
            </a:r>
          </a:p>
          <a:p>
            <a:pPr>
              <a:spcBef>
                <a:spcPts val="600"/>
              </a:spcBef>
            </a:pPr>
            <a:br>
              <a:rPr lang="en-US" sz="2400" dirty="0"/>
            </a:br>
            <a:r>
              <a:rPr lang="en-US" sz="2400" b="1" dirty="0" err="1"/>
              <a:t>git</a:t>
            </a:r>
            <a:r>
              <a:rPr lang="en-US" sz="2400" b="1" dirty="0"/>
              <a:t> branch testing</a:t>
            </a:r>
          </a:p>
          <a:p>
            <a:pPr>
              <a:spcBef>
                <a:spcPts val="600"/>
              </a:spcBef>
            </a:pPr>
            <a:r>
              <a:rPr lang="en-US" sz="2400" dirty="0"/>
              <a:t>  	</a:t>
            </a:r>
            <a:br>
              <a:rPr lang="en-US" sz="2400" dirty="0"/>
            </a:br>
            <a:endParaRPr lang="en-US" sz="2400" b="1" dirty="0"/>
          </a:p>
        </p:txBody>
      </p:sp>
      <p:sp>
        <p:nvSpPr>
          <p:cNvPr id="6" name="Footer Placeholder 4"/>
          <p:cNvSpPr>
            <a:spLocks noGrp="1"/>
          </p:cNvSpPr>
          <p:nvPr>
            <p:ph type="ftr" sz="quarter" idx="10"/>
          </p:nvPr>
        </p:nvSpPr>
        <p:spPr>
          <a:xfrm>
            <a:off x="4560849" y="6311900"/>
            <a:ext cx="3510775" cy="365125"/>
          </a:xfrm>
        </p:spPr>
        <p:txBody>
          <a:bodyPr/>
          <a:lstStyle/>
          <a:p>
            <a:r>
              <a:rPr lang="en-US" dirty="0"/>
              <a:t>Pro </a:t>
            </a:r>
            <a:r>
              <a:rPr lang="en-US" dirty="0" err="1"/>
              <a:t>Git</a:t>
            </a:r>
            <a:r>
              <a:rPr lang="en-US" dirty="0"/>
              <a:t> Book – Scott Chacon and Ben Straub</a:t>
            </a:r>
          </a:p>
          <a:p>
            <a:endParaRPr lang="en-US" dirty="0"/>
          </a:p>
        </p:txBody>
      </p:sp>
      <p:pic>
        <p:nvPicPr>
          <p:cNvPr id="5" name="Picture 4" descr="Two branches pointing into the same series of commits."/>
          <p:cNvPicPr/>
          <p:nvPr/>
        </p:nvPicPr>
        <p:blipFill>
          <a:blip r:embed="rId2">
            <a:extLst>
              <a:ext uri="{28A0092B-C50C-407E-A947-70E740481C1C}">
                <a14:useLocalDpi xmlns:a14="http://schemas.microsoft.com/office/drawing/2010/main" val="0"/>
              </a:ext>
            </a:extLst>
          </a:blip>
          <a:srcRect/>
          <a:stretch>
            <a:fillRect/>
          </a:stretch>
        </p:blipFill>
        <p:spPr bwMode="auto">
          <a:xfrm>
            <a:off x="2286000" y="2789626"/>
            <a:ext cx="7620000" cy="3152775"/>
          </a:xfrm>
          <a:prstGeom prst="rect">
            <a:avLst/>
          </a:prstGeom>
          <a:noFill/>
          <a:ln>
            <a:noFill/>
          </a:ln>
        </p:spPr>
      </p:pic>
    </p:spTree>
    <p:extLst>
      <p:ext uri="{BB962C8B-B14F-4D97-AF65-F5344CB8AC3E}">
        <p14:creationId xmlns:p14="http://schemas.microsoft.com/office/powerpoint/2010/main" val="24083149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650815"/>
            <a:ext cx="7588495" cy="817832"/>
          </a:xfrm>
        </p:spPr>
        <p:txBody>
          <a:bodyPr>
            <a:normAutofit/>
          </a:bodyPr>
          <a:lstStyle/>
          <a:p>
            <a:r>
              <a:rPr lang="en-US" sz="4400" dirty="0"/>
              <a:t>GIT – Branching</a:t>
            </a:r>
          </a:p>
        </p:txBody>
      </p:sp>
      <p:sp>
        <p:nvSpPr>
          <p:cNvPr id="4" name="Text Placeholder 3"/>
          <p:cNvSpPr>
            <a:spLocks noGrp="1"/>
          </p:cNvSpPr>
          <p:nvPr>
            <p:ph type="body" sz="half" idx="2"/>
          </p:nvPr>
        </p:nvSpPr>
        <p:spPr>
          <a:xfrm>
            <a:off x="693414" y="1549998"/>
            <a:ext cx="9964470" cy="4311052"/>
          </a:xfrm>
        </p:spPr>
        <p:txBody>
          <a:bodyPr>
            <a:normAutofit/>
          </a:bodyPr>
          <a:lstStyle/>
          <a:p>
            <a:r>
              <a:rPr lang="en-US" sz="2400" dirty="0" err="1"/>
              <a:t>Git</a:t>
            </a:r>
            <a:r>
              <a:rPr lang="en-US" sz="2400" dirty="0"/>
              <a:t> keeps a special pointer called HEAD to keep track of what branch you are working on.  </a:t>
            </a:r>
            <a:r>
              <a:rPr lang="en-US" sz="2400" dirty="0" err="1"/>
              <a:t>Git</a:t>
            </a:r>
            <a:r>
              <a:rPr lang="en-US" sz="2400" dirty="0"/>
              <a:t> branch created branch but did not switch to branch. </a:t>
            </a:r>
          </a:p>
          <a:p>
            <a:pPr>
              <a:spcBef>
                <a:spcPts val="600"/>
              </a:spcBef>
            </a:pPr>
            <a:br>
              <a:rPr lang="en-US" sz="2400" dirty="0"/>
            </a:br>
            <a:endParaRPr lang="en-US" sz="2400" b="1" dirty="0"/>
          </a:p>
          <a:p>
            <a:pPr>
              <a:spcBef>
                <a:spcPts val="600"/>
              </a:spcBef>
            </a:pPr>
            <a:r>
              <a:rPr lang="en-US" sz="2400" dirty="0"/>
              <a:t>  	</a:t>
            </a:r>
            <a:br>
              <a:rPr lang="en-US" sz="2400" dirty="0"/>
            </a:br>
            <a:endParaRPr lang="en-US" sz="2400" b="1" dirty="0"/>
          </a:p>
        </p:txBody>
      </p:sp>
      <p:sp>
        <p:nvSpPr>
          <p:cNvPr id="6" name="Footer Placeholder 4"/>
          <p:cNvSpPr>
            <a:spLocks noGrp="1"/>
          </p:cNvSpPr>
          <p:nvPr>
            <p:ph type="ftr" sz="quarter" idx="10"/>
          </p:nvPr>
        </p:nvSpPr>
        <p:spPr>
          <a:xfrm>
            <a:off x="4560849" y="6311900"/>
            <a:ext cx="3510775" cy="365125"/>
          </a:xfrm>
        </p:spPr>
        <p:txBody>
          <a:bodyPr/>
          <a:lstStyle/>
          <a:p>
            <a:r>
              <a:rPr lang="en-US" dirty="0"/>
              <a:t>Pro </a:t>
            </a:r>
            <a:r>
              <a:rPr lang="en-US" dirty="0" err="1"/>
              <a:t>Git</a:t>
            </a:r>
            <a:r>
              <a:rPr lang="en-US" dirty="0"/>
              <a:t> Book – Scott Chacon and Ben Straub</a:t>
            </a:r>
          </a:p>
          <a:p>
            <a:endParaRPr lang="en-US" dirty="0"/>
          </a:p>
        </p:txBody>
      </p:sp>
      <p:pic>
        <p:nvPicPr>
          <p:cNvPr id="7" name="Picture 6" descr="HEAD pointing to a branch."/>
          <p:cNvPicPr/>
          <p:nvPr/>
        </p:nvPicPr>
        <p:blipFill>
          <a:blip r:embed="rId2">
            <a:extLst>
              <a:ext uri="{28A0092B-C50C-407E-A947-70E740481C1C}">
                <a14:useLocalDpi xmlns:a14="http://schemas.microsoft.com/office/drawing/2010/main" val="0"/>
              </a:ext>
            </a:extLst>
          </a:blip>
          <a:srcRect/>
          <a:stretch>
            <a:fillRect/>
          </a:stretch>
        </p:blipFill>
        <p:spPr bwMode="auto">
          <a:xfrm>
            <a:off x="2853557" y="2529216"/>
            <a:ext cx="6547945" cy="3162136"/>
          </a:xfrm>
          <a:prstGeom prst="rect">
            <a:avLst/>
          </a:prstGeom>
          <a:noFill/>
          <a:ln>
            <a:noFill/>
          </a:ln>
        </p:spPr>
      </p:pic>
    </p:spTree>
    <p:extLst>
      <p:ext uri="{BB962C8B-B14F-4D97-AF65-F5344CB8AC3E}">
        <p14:creationId xmlns:p14="http://schemas.microsoft.com/office/powerpoint/2010/main" val="893295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650815"/>
            <a:ext cx="7588495" cy="817832"/>
          </a:xfrm>
        </p:spPr>
        <p:txBody>
          <a:bodyPr>
            <a:normAutofit/>
          </a:bodyPr>
          <a:lstStyle/>
          <a:p>
            <a:r>
              <a:rPr lang="en-US" sz="4400" dirty="0"/>
              <a:t>GIT – Switching Branches</a:t>
            </a:r>
          </a:p>
        </p:txBody>
      </p:sp>
      <p:sp>
        <p:nvSpPr>
          <p:cNvPr id="4" name="Text Placeholder 3"/>
          <p:cNvSpPr>
            <a:spLocks noGrp="1"/>
          </p:cNvSpPr>
          <p:nvPr>
            <p:ph type="body" sz="half" idx="2"/>
          </p:nvPr>
        </p:nvSpPr>
        <p:spPr>
          <a:xfrm>
            <a:off x="693414" y="1549998"/>
            <a:ext cx="9964470" cy="4311052"/>
          </a:xfrm>
        </p:spPr>
        <p:txBody>
          <a:bodyPr>
            <a:normAutofit/>
          </a:bodyPr>
          <a:lstStyle/>
          <a:p>
            <a:r>
              <a:rPr lang="en-US" sz="2400" b="1" dirty="0" err="1"/>
              <a:t>git</a:t>
            </a:r>
            <a:r>
              <a:rPr lang="en-US" sz="2400" b="1" dirty="0"/>
              <a:t> checkout testing      </a:t>
            </a:r>
            <a:r>
              <a:rPr lang="en-US" sz="2400" dirty="0"/>
              <a:t>moves HEAD to point to the testing branch</a:t>
            </a:r>
          </a:p>
          <a:p>
            <a:br>
              <a:rPr lang="en-US" sz="2400" dirty="0"/>
            </a:br>
            <a:r>
              <a:rPr lang="en-US" sz="2400" dirty="0"/>
              <a:t>	</a:t>
            </a:r>
            <a:br>
              <a:rPr lang="en-US" sz="2400" dirty="0"/>
            </a:br>
            <a:endParaRPr lang="en-US" sz="2400" dirty="0"/>
          </a:p>
        </p:txBody>
      </p:sp>
      <p:sp>
        <p:nvSpPr>
          <p:cNvPr id="6" name="Footer Placeholder 4"/>
          <p:cNvSpPr>
            <a:spLocks noGrp="1"/>
          </p:cNvSpPr>
          <p:nvPr>
            <p:ph type="ftr" sz="quarter" idx="10"/>
          </p:nvPr>
        </p:nvSpPr>
        <p:spPr>
          <a:xfrm>
            <a:off x="4560849" y="6311900"/>
            <a:ext cx="3510775" cy="365125"/>
          </a:xfrm>
        </p:spPr>
        <p:txBody>
          <a:bodyPr/>
          <a:lstStyle/>
          <a:p>
            <a:r>
              <a:rPr lang="en-US" dirty="0"/>
              <a:t>Pro </a:t>
            </a:r>
            <a:r>
              <a:rPr lang="en-US" dirty="0" err="1"/>
              <a:t>Git</a:t>
            </a:r>
            <a:r>
              <a:rPr lang="en-US" dirty="0"/>
              <a:t> Book – Scott Chacon and Ben Straub</a:t>
            </a:r>
          </a:p>
          <a:p>
            <a:endParaRPr lang="en-US" dirty="0"/>
          </a:p>
        </p:txBody>
      </p:sp>
      <p:pic>
        <p:nvPicPr>
          <p:cNvPr id="7" name="Picture 6" descr="HEAD points to the current branch."/>
          <p:cNvPicPr/>
          <p:nvPr/>
        </p:nvPicPr>
        <p:blipFill>
          <a:blip r:embed="rId2">
            <a:extLst>
              <a:ext uri="{28A0092B-C50C-407E-A947-70E740481C1C}">
                <a14:useLocalDpi xmlns:a14="http://schemas.microsoft.com/office/drawing/2010/main" val="0"/>
              </a:ext>
            </a:extLst>
          </a:blip>
          <a:srcRect/>
          <a:stretch>
            <a:fillRect/>
          </a:stretch>
        </p:blipFill>
        <p:spPr bwMode="auto">
          <a:xfrm>
            <a:off x="2285999" y="2295525"/>
            <a:ext cx="7005145" cy="3565525"/>
          </a:xfrm>
          <a:prstGeom prst="rect">
            <a:avLst/>
          </a:prstGeom>
          <a:noFill/>
          <a:ln>
            <a:noFill/>
          </a:ln>
        </p:spPr>
      </p:pic>
    </p:spTree>
    <p:extLst>
      <p:ext uri="{BB962C8B-B14F-4D97-AF65-F5344CB8AC3E}">
        <p14:creationId xmlns:p14="http://schemas.microsoft.com/office/powerpoint/2010/main" val="23378979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650815"/>
            <a:ext cx="7588495" cy="817832"/>
          </a:xfrm>
        </p:spPr>
        <p:txBody>
          <a:bodyPr>
            <a:normAutofit/>
          </a:bodyPr>
          <a:lstStyle/>
          <a:p>
            <a:r>
              <a:rPr lang="en-US" sz="4400" dirty="0"/>
              <a:t>GIT –Branches</a:t>
            </a:r>
          </a:p>
        </p:txBody>
      </p:sp>
      <p:sp>
        <p:nvSpPr>
          <p:cNvPr id="4" name="Text Placeholder 3"/>
          <p:cNvSpPr>
            <a:spLocks noGrp="1"/>
          </p:cNvSpPr>
          <p:nvPr>
            <p:ph type="body" sz="half" idx="2"/>
          </p:nvPr>
        </p:nvSpPr>
        <p:spPr>
          <a:xfrm>
            <a:off x="693414" y="1549998"/>
            <a:ext cx="9964470" cy="4311052"/>
          </a:xfrm>
        </p:spPr>
        <p:txBody>
          <a:bodyPr>
            <a:normAutofit fontScale="85000" lnSpcReduction="20000"/>
          </a:bodyPr>
          <a:lstStyle/>
          <a:p>
            <a:r>
              <a:rPr lang="en-US" sz="2400" b="1" dirty="0"/>
              <a:t>Now looks what happens if you modify a file, add it, and commit</a:t>
            </a:r>
          </a:p>
          <a:p>
            <a:endParaRPr lang="en-US" sz="2400" b="1" dirty="0"/>
          </a:p>
          <a:p>
            <a:endParaRPr lang="en-US" sz="2400" b="1" dirty="0"/>
          </a:p>
          <a:p>
            <a:endParaRPr lang="en-US" sz="2400" b="1" dirty="0"/>
          </a:p>
          <a:p>
            <a:endParaRPr lang="en-US" sz="2400" b="1" dirty="0"/>
          </a:p>
          <a:p>
            <a:endParaRPr lang="en-US" sz="2400" b="1" dirty="0"/>
          </a:p>
          <a:p>
            <a:endParaRPr lang="en-US" sz="2400" b="1" dirty="0"/>
          </a:p>
          <a:p>
            <a:endParaRPr lang="en-US" sz="2400" b="1" dirty="0"/>
          </a:p>
          <a:p>
            <a:r>
              <a:rPr lang="en-US" sz="2400" b="1" dirty="0"/>
              <a:t>HEAD moves forward when commit is made,</a:t>
            </a:r>
          </a:p>
          <a:p>
            <a:r>
              <a:rPr lang="en-US" sz="2400" b="1" dirty="0"/>
              <a:t>testing branch has moved forward, but you master</a:t>
            </a:r>
          </a:p>
          <a:p>
            <a:r>
              <a:rPr lang="en-US" sz="2400" b="1" dirty="0"/>
              <a:t>branch still points to the commit you were on when you </a:t>
            </a:r>
          </a:p>
          <a:p>
            <a:r>
              <a:rPr lang="en-US" sz="2400" b="1" dirty="0"/>
              <a:t>switched branches</a:t>
            </a:r>
            <a:endParaRPr lang="en-US" sz="2400" dirty="0"/>
          </a:p>
          <a:p>
            <a:endParaRPr lang="en-US" sz="2400" dirty="0"/>
          </a:p>
        </p:txBody>
      </p:sp>
      <p:sp>
        <p:nvSpPr>
          <p:cNvPr id="6" name="Footer Placeholder 4"/>
          <p:cNvSpPr>
            <a:spLocks noGrp="1"/>
          </p:cNvSpPr>
          <p:nvPr>
            <p:ph type="ftr" sz="quarter" idx="10"/>
          </p:nvPr>
        </p:nvSpPr>
        <p:spPr>
          <a:xfrm>
            <a:off x="4560849" y="6311900"/>
            <a:ext cx="3510775" cy="365125"/>
          </a:xfrm>
        </p:spPr>
        <p:txBody>
          <a:bodyPr/>
          <a:lstStyle/>
          <a:p>
            <a:r>
              <a:rPr lang="en-US" dirty="0"/>
              <a:t>Pro </a:t>
            </a:r>
            <a:r>
              <a:rPr lang="en-US" dirty="0" err="1"/>
              <a:t>Git</a:t>
            </a:r>
            <a:r>
              <a:rPr lang="en-US" dirty="0"/>
              <a:t> Book – Scott Chacon and Ben Straub</a:t>
            </a:r>
          </a:p>
          <a:p>
            <a:endParaRPr lang="en-US" dirty="0"/>
          </a:p>
        </p:txBody>
      </p:sp>
      <p:pic>
        <p:nvPicPr>
          <p:cNvPr id="8" name="Picture 7" descr="The HEAD branch moves forward when a commit is made."/>
          <p:cNvPicPr/>
          <p:nvPr/>
        </p:nvPicPr>
        <p:blipFill>
          <a:blip r:embed="rId2">
            <a:extLst>
              <a:ext uri="{28A0092B-C50C-407E-A947-70E740481C1C}">
                <a14:useLocalDpi xmlns:a14="http://schemas.microsoft.com/office/drawing/2010/main" val="0"/>
              </a:ext>
            </a:extLst>
          </a:blip>
          <a:srcRect/>
          <a:stretch>
            <a:fillRect/>
          </a:stretch>
        </p:blipFill>
        <p:spPr bwMode="auto">
          <a:xfrm>
            <a:off x="2506236" y="2114849"/>
            <a:ext cx="7620000" cy="3181350"/>
          </a:xfrm>
          <a:prstGeom prst="rect">
            <a:avLst/>
          </a:prstGeom>
          <a:noFill/>
          <a:ln>
            <a:noFill/>
          </a:ln>
        </p:spPr>
      </p:pic>
    </p:spTree>
    <p:extLst>
      <p:ext uri="{BB962C8B-B14F-4D97-AF65-F5344CB8AC3E}">
        <p14:creationId xmlns:p14="http://schemas.microsoft.com/office/powerpoint/2010/main" val="19532758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650815"/>
            <a:ext cx="7588495" cy="817832"/>
          </a:xfrm>
        </p:spPr>
        <p:txBody>
          <a:bodyPr>
            <a:normAutofit/>
          </a:bodyPr>
          <a:lstStyle/>
          <a:p>
            <a:r>
              <a:rPr lang="en-US" sz="4400" dirty="0"/>
              <a:t>GIT –Branches</a:t>
            </a:r>
          </a:p>
        </p:txBody>
      </p:sp>
      <p:sp>
        <p:nvSpPr>
          <p:cNvPr id="4" name="Text Placeholder 3"/>
          <p:cNvSpPr>
            <a:spLocks noGrp="1"/>
          </p:cNvSpPr>
          <p:nvPr>
            <p:ph type="body" sz="half" idx="2"/>
          </p:nvPr>
        </p:nvSpPr>
        <p:spPr>
          <a:xfrm>
            <a:off x="693414" y="1549998"/>
            <a:ext cx="9964470" cy="4311052"/>
          </a:xfrm>
        </p:spPr>
        <p:txBody>
          <a:bodyPr>
            <a:normAutofit/>
          </a:bodyPr>
          <a:lstStyle/>
          <a:p>
            <a:r>
              <a:rPr lang="en-US" sz="2400" b="1" dirty="0" err="1"/>
              <a:t>git</a:t>
            </a:r>
            <a:r>
              <a:rPr lang="en-US" sz="2400" b="1" dirty="0"/>
              <a:t> checkout master     </a:t>
            </a:r>
            <a:r>
              <a:rPr lang="en-US" sz="2400" dirty="0"/>
              <a:t>switch back to master branch</a:t>
            </a:r>
          </a:p>
          <a:p>
            <a:endParaRPr lang="en-US" sz="2400" b="1" dirty="0"/>
          </a:p>
          <a:p>
            <a:endParaRPr lang="en-US" sz="2400" b="1" dirty="0"/>
          </a:p>
          <a:p>
            <a:endParaRPr lang="en-US" sz="2400" b="1" dirty="0"/>
          </a:p>
          <a:p>
            <a:endParaRPr lang="en-US" sz="2400" b="1" dirty="0"/>
          </a:p>
          <a:p>
            <a:endParaRPr lang="en-US" sz="2400" b="1" dirty="0"/>
          </a:p>
          <a:p>
            <a:r>
              <a:rPr lang="en-US" sz="2400" b="1" dirty="0"/>
              <a:t>That command did two things - HEAD pointer moved back to master</a:t>
            </a:r>
          </a:p>
          <a:p>
            <a:r>
              <a:rPr lang="en-US" sz="2400" b="1" dirty="0"/>
              <a:t>branch, and it reverted the files in your working directory back to the </a:t>
            </a:r>
          </a:p>
          <a:p>
            <a:r>
              <a:rPr lang="en-US" sz="2400" b="1" dirty="0"/>
              <a:t>snapshot that master points to.  </a:t>
            </a:r>
          </a:p>
        </p:txBody>
      </p:sp>
      <p:sp>
        <p:nvSpPr>
          <p:cNvPr id="6" name="Footer Placeholder 4"/>
          <p:cNvSpPr>
            <a:spLocks noGrp="1"/>
          </p:cNvSpPr>
          <p:nvPr>
            <p:ph type="ftr" sz="quarter" idx="10"/>
          </p:nvPr>
        </p:nvSpPr>
        <p:spPr>
          <a:xfrm>
            <a:off x="4560849" y="6311900"/>
            <a:ext cx="3510775" cy="365125"/>
          </a:xfrm>
        </p:spPr>
        <p:txBody>
          <a:bodyPr/>
          <a:lstStyle/>
          <a:p>
            <a:r>
              <a:rPr lang="en-US" dirty="0"/>
              <a:t>Pro </a:t>
            </a:r>
            <a:r>
              <a:rPr lang="en-US" dirty="0" err="1"/>
              <a:t>Git</a:t>
            </a:r>
            <a:r>
              <a:rPr lang="en-US" dirty="0"/>
              <a:t> Book – Scott Chacon and Ben Straub</a:t>
            </a:r>
          </a:p>
          <a:p>
            <a:endParaRPr lang="en-US" dirty="0"/>
          </a:p>
        </p:txBody>
      </p:sp>
      <p:pic>
        <p:nvPicPr>
          <p:cNvPr id="7" name="Picture 6" descr="HEAD moves when you checkout."/>
          <p:cNvPicPr/>
          <p:nvPr/>
        </p:nvPicPr>
        <p:blipFill>
          <a:blip r:embed="rId2">
            <a:extLst>
              <a:ext uri="{28A0092B-C50C-407E-A947-70E740481C1C}">
                <a14:useLocalDpi xmlns:a14="http://schemas.microsoft.com/office/drawing/2010/main" val="0"/>
              </a:ext>
            </a:extLst>
          </a:blip>
          <a:srcRect/>
          <a:stretch>
            <a:fillRect/>
          </a:stretch>
        </p:blipFill>
        <p:spPr bwMode="auto">
          <a:xfrm>
            <a:off x="3468414" y="1314450"/>
            <a:ext cx="7620000" cy="3181350"/>
          </a:xfrm>
          <a:prstGeom prst="rect">
            <a:avLst/>
          </a:prstGeom>
          <a:noFill/>
          <a:ln>
            <a:noFill/>
          </a:ln>
        </p:spPr>
      </p:pic>
    </p:spTree>
    <p:extLst>
      <p:ext uri="{BB962C8B-B14F-4D97-AF65-F5344CB8AC3E}">
        <p14:creationId xmlns:p14="http://schemas.microsoft.com/office/powerpoint/2010/main" val="18070348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650815"/>
            <a:ext cx="7588495" cy="817832"/>
          </a:xfrm>
        </p:spPr>
        <p:txBody>
          <a:bodyPr>
            <a:normAutofit/>
          </a:bodyPr>
          <a:lstStyle/>
          <a:p>
            <a:r>
              <a:rPr lang="en-US" sz="4400" dirty="0"/>
              <a:t>GIT –Branches</a:t>
            </a:r>
          </a:p>
        </p:txBody>
      </p:sp>
      <p:sp>
        <p:nvSpPr>
          <p:cNvPr id="4" name="Text Placeholder 3"/>
          <p:cNvSpPr>
            <a:spLocks noGrp="1"/>
          </p:cNvSpPr>
          <p:nvPr>
            <p:ph type="body" sz="half" idx="2"/>
          </p:nvPr>
        </p:nvSpPr>
        <p:spPr>
          <a:xfrm>
            <a:off x="693414" y="1549998"/>
            <a:ext cx="9964470" cy="4311052"/>
          </a:xfrm>
        </p:spPr>
        <p:txBody>
          <a:bodyPr>
            <a:normAutofit/>
          </a:bodyPr>
          <a:lstStyle/>
          <a:p>
            <a:r>
              <a:rPr lang="en-US" sz="2400" dirty="0"/>
              <a:t>When you switch branches in </a:t>
            </a:r>
            <a:r>
              <a:rPr lang="en-US" sz="2400" dirty="0" err="1"/>
              <a:t>Git</a:t>
            </a:r>
            <a:r>
              <a:rPr lang="en-US" sz="2400" dirty="0"/>
              <a:t>, files in working directory revert to look like it did the last time you committed on that branch. </a:t>
            </a:r>
          </a:p>
          <a:p>
            <a:endParaRPr lang="en-US" sz="2400" dirty="0"/>
          </a:p>
          <a:p>
            <a:r>
              <a:rPr lang="en-US" sz="2400" b="1" dirty="0"/>
              <a:t>Did some work and made a commit in master -&gt;</a:t>
            </a:r>
          </a:p>
          <a:p>
            <a:endParaRPr lang="en-US" sz="2400" b="1" dirty="0"/>
          </a:p>
          <a:p>
            <a:endParaRPr lang="en-US" sz="2400" b="1" dirty="0"/>
          </a:p>
          <a:p>
            <a:endParaRPr lang="en-US" sz="2400" b="1" dirty="0"/>
          </a:p>
          <a:p>
            <a:endParaRPr lang="en-US" sz="2400" b="1" dirty="0"/>
          </a:p>
        </p:txBody>
      </p:sp>
      <p:sp>
        <p:nvSpPr>
          <p:cNvPr id="6" name="Footer Placeholder 4"/>
          <p:cNvSpPr>
            <a:spLocks noGrp="1"/>
          </p:cNvSpPr>
          <p:nvPr>
            <p:ph type="ftr" sz="quarter" idx="10"/>
          </p:nvPr>
        </p:nvSpPr>
        <p:spPr>
          <a:xfrm>
            <a:off x="4560849" y="6311900"/>
            <a:ext cx="3510775" cy="365125"/>
          </a:xfrm>
        </p:spPr>
        <p:txBody>
          <a:bodyPr/>
          <a:lstStyle/>
          <a:p>
            <a:r>
              <a:rPr lang="en-US" dirty="0"/>
              <a:t>Pro </a:t>
            </a:r>
            <a:r>
              <a:rPr lang="en-US" dirty="0" err="1"/>
              <a:t>Git</a:t>
            </a:r>
            <a:r>
              <a:rPr lang="en-US" dirty="0"/>
              <a:t> Book – Scott Chacon and Ben Straub</a:t>
            </a:r>
          </a:p>
          <a:p>
            <a:endParaRPr lang="en-US" dirty="0"/>
          </a:p>
        </p:txBody>
      </p:sp>
      <p:pic>
        <p:nvPicPr>
          <p:cNvPr id="8" name="Picture 7" descr="Divergent history."/>
          <p:cNvPicPr/>
          <p:nvPr/>
        </p:nvPicPr>
        <p:blipFill>
          <a:blip r:embed="rId2">
            <a:extLst>
              <a:ext uri="{28A0092B-C50C-407E-A947-70E740481C1C}">
                <a14:useLocalDpi xmlns:a14="http://schemas.microsoft.com/office/drawing/2010/main" val="0"/>
              </a:ext>
            </a:extLst>
          </a:blip>
          <a:srcRect/>
          <a:stretch>
            <a:fillRect/>
          </a:stretch>
        </p:blipFill>
        <p:spPr bwMode="auto">
          <a:xfrm>
            <a:off x="4246180" y="2144319"/>
            <a:ext cx="6621517" cy="4259317"/>
          </a:xfrm>
          <a:prstGeom prst="rect">
            <a:avLst/>
          </a:prstGeom>
          <a:noFill/>
          <a:ln>
            <a:noFill/>
          </a:ln>
        </p:spPr>
      </p:pic>
    </p:spTree>
    <p:extLst>
      <p:ext uri="{BB962C8B-B14F-4D97-AF65-F5344CB8AC3E}">
        <p14:creationId xmlns:p14="http://schemas.microsoft.com/office/powerpoint/2010/main" val="40286130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650815"/>
            <a:ext cx="9013660" cy="817832"/>
          </a:xfrm>
        </p:spPr>
        <p:txBody>
          <a:bodyPr>
            <a:normAutofit fontScale="90000"/>
          </a:bodyPr>
          <a:lstStyle/>
          <a:p>
            <a:r>
              <a:rPr lang="en-US" sz="4400" dirty="0"/>
              <a:t>GIT –Branches, Example in the Real World </a:t>
            </a:r>
          </a:p>
        </p:txBody>
      </p:sp>
      <p:sp>
        <p:nvSpPr>
          <p:cNvPr id="4" name="Text Placeholder 3"/>
          <p:cNvSpPr>
            <a:spLocks noGrp="1"/>
          </p:cNvSpPr>
          <p:nvPr>
            <p:ph type="body" sz="half" idx="2"/>
          </p:nvPr>
        </p:nvSpPr>
        <p:spPr>
          <a:xfrm>
            <a:off x="693414" y="1549998"/>
            <a:ext cx="9964470" cy="4311052"/>
          </a:xfrm>
        </p:spPr>
        <p:txBody>
          <a:bodyPr>
            <a:normAutofit fontScale="92500" lnSpcReduction="10000"/>
          </a:bodyPr>
          <a:lstStyle/>
          <a:p>
            <a:r>
              <a:rPr lang="en-US" sz="2400" dirty="0"/>
              <a:t>Let’s go through a simple example of branching and merging with a workflow that you might use in the real world. You’ll follow these steps:</a:t>
            </a:r>
          </a:p>
          <a:p>
            <a:pPr marL="457200" lvl="0" indent="-457200">
              <a:buFont typeface="+mj-lt"/>
              <a:buAutoNum type="arabicPeriod"/>
            </a:pPr>
            <a:r>
              <a:rPr lang="en-US" sz="2400" dirty="0"/>
              <a:t>Do work on a web site.</a:t>
            </a:r>
          </a:p>
          <a:p>
            <a:pPr marL="457200" lvl="0" indent="-457200">
              <a:buFont typeface="+mj-lt"/>
              <a:buAutoNum type="arabicPeriod"/>
            </a:pPr>
            <a:r>
              <a:rPr lang="en-US" sz="2400" dirty="0"/>
              <a:t>Create a branch for a new story you’re working on.</a:t>
            </a:r>
          </a:p>
          <a:p>
            <a:pPr marL="457200" lvl="0" indent="-457200">
              <a:buFont typeface="+mj-lt"/>
              <a:buAutoNum type="arabicPeriod"/>
            </a:pPr>
            <a:r>
              <a:rPr lang="en-US" sz="2400" dirty="0"/>
              <a:t>Do some work in that branch.</a:t>
            </a:r>
          </a:p>
          <a:p>
            <a:r>
              <a:rPr lang="en-US" sz="2400" dirty="0"/>
              <a:t>At this stage, you’ll receive a call that another issue is critical and you need a hotfix. You’ll do the following:</a:t>
            </a:r>
          </a:p>
          <a:p>
            <a:pPr marL="457200" lvl="0" indent="-457200">
              <a:buFont typeface="+mj-lt"/>
              <a:buAutoNum type="arabicPeriod"/>
            </a:pPr>
            <a:r>
              <a:rPr lang="en-US" sz="2400" dirty="0"/>
              <a:t>Switch to your production branch.</a:t>
            </a:r>
          </a:p>
          <a:p>
            <a:pPr marL="457200" lvl="0" indent="-457200">
              <a:buFont typeface="+mj-lt"/>
              <a:buAutoNum type="arabicPeriod"/>
            </a:pPr>
            <a:r>
              <a:rPr lang="en-US" sz="2400" dirty="0"/>
              <a:t>Create a branch to add the hotfix.</a:t>
            </a:r>
          </a:p>
          <a:p>
            <a:pPr marL="457200" lvl="0" indent="-457200">
              <a:buFont typeface="+mj-lt"/>
              <a:buAutoNum type="arabicPeriod"/>
            </a:pPr>
            <a:r>
              <a:rPr lang="en-US" sz="2400" dirty="0"/>
              <a:t>After it’s tested, merge the hotfix branch, and push to production.</a:t>
            </a:r>
          </a:p>
          <a:p>
            <a:pPr lvl="0"/>
            <a:r>
              <a:rPr lang="en-US" sz="2400" dirty="0"/>
              <a:t>Switch back to your original story and continue working.</a:t>
            </a:r>
          </a:p>
          <a:p>
            <a:endParaRPr lang="en-US" sz="2400" b="1" dirty="0"/>
          </a:p>
        </p:txBody>
      </p:sp>
      <p:sp>
        <p:nvSpPr>
          <p:cNvPr id="6" name="Footer Placeholder 4"/>
          <p:cNvSpPr>
            <a:spLocks noGrp="1"/>
          </p:cNvSpPr>
          <p:nvPr>
            <p:ph type="ftr" sz="quarter" idx="10"/>
          </p:nvPr>
        </p:nvSpPr>
        <p:spPr>
          <a:xfrm>
            <a:off x="4560849" y="6311900"/>
            <a:ext cx="3510775" cy="365125"/>
          </a:xfrm>
        </p:spPr>
        <p:txBody>
          <a:bodyPr/>
          <a:lstStyle/>
          <a:p>
            <a:r>
              <a:rPr lang="en-US" dirty="0"/>
              <a:t>Pro </a:t>
            </a:r>
            <a:r>
              <a:rPr lang="en-US" dirty="0" err="1"/>
              <a:t>Git</a:t>
            </a:r>
            <a:r>
              <a:rPr lang="en-US" dirty="0"/>
              <a:t> Book – Scott Chacon and Ben Straub</a:t>
            </a:r>
          </a:p>
          <a:p>
            <a:endParaRPr lang="en-US" dirty="0"/>
          </a:p>
        </p:txBody>
      </p:sp>
    </p:spTree>
    <p:extLst>
      <p:ext uri="{BB962C8B-B14F-4D97-AF65-F5344CB8AC3E}">
        <p14:creationId xmlns:p14="http://schemas.microsoft.com/office/powerpoint/2010/main" val="39516723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650815"/>
            <a:ext cx="9013660" cy="817832"/>
          </a:xfrm>
        </p:spPr>
        <p:txBody>
          <a:bodyPr>
            <a:normAutofit fontScale="90000"/>
          </a:bodyPr>
          <a:lstStyle/>
          <a:p>
            <a:r>
              <a:rPr lang="en-US" sz="4400" dirty="0"/>
              <a:t>GIT –Branches, Example in the Real World </a:t>
            </a:r>
          </a:p>
        </p:txBody>
      </p:sp>
      <p:sp>
        <p:nvSpPr>
          <p:cNvPr id="4" name="Text Placeholder 3"/>
          <p:cNvSpPr>
            <a:spLocks noGrp="1"/>
          </p:cNvSpPr>
          <p:nvPr>
            <p:ph type="body" sz="half" idx="2"/>
          </p:nvPr>
        </p:nvSpPr>
        <p:spPr>
          <a:xfrm>
            <a:off x="693414" y="1549998"/>
            <a:ext cx="9964470" cy="4311052"/>
          </a:xfrm>
        </p:spPr>
        <p:txBody>
          <a:bodyPr>
            <a:normAutofit/>
          </a:bodyPr>
          <a:lstStyle/>
          <a:p>
            <a:endParaRPr lang="en-US" sz="2400" b="1" dirty="0"/>
          </a:p>
        </p:txBody>
      </p:sp>
      <p:sp>
        <p:nvSpPr>
          <p:cNvPr id="6" name="Footer Placeholder 4"/>
          <p:cNvSpPr>
            <a:spLocks noGrp="1"/>
          </p:cNvSpPr>
          <p:nvPr>
            <p:ph type="ftr" sz="quarter" idx="10"/>
          </p:nvPr>
        </p:nvSpPr>
        <p:spPr>
          <a:xfrm>
            <a:off x="4560849" y="6311900"/>
            <a:ext cx="3510775" cy="365125"/>
          </a:xfrm>
        </p:spPr>
        <p:txBody>
          <a:bodyPr/>
          <a:lstStyle/>
          <a:p>
            <a:r>
              <a:rPr lang="en-US" dirty="0"/>
              <a:t>Pro </a:t>
            </a:r>
            <a:r>
              <a:rPr lang="en-US" dirty="0" err="1"/>
              <a:t>Git</a:t>
            </a:r>
            <a:r>
              <a:rPr lang="en-US" dirty="0"/>
              <a:t> Book – Scott Chacon and Ben Straub</a:t>
            </a:r>
          </a:p>
          <a:p>
            <a:endParaRPr lang="en-US" dirty="0"/>
          </a:p>
        </p:txBody>
      </p:sp>
      <p:pic>
        <p:nvPicPr>
          <p:cNvPr id="8" name="Picture 7" descr="Hotfix branch based on `master`."/>
          <p:cNvPicPr/>
          <p:nvPr/>
        </p:nvPicPr>
        <p:blipFill>
          <a:blip r:embed="rId2">
            <a:extLst>
              <a:ext uri="{28A0092B-C50C-407E-A947-70E740481C1C}">
                <a14:useLocalDpi xmlns:a14="http://schemas.microsoft.com/office/drawing/2010/main" val="0"/>
              </a:ext>
            </a:extLst>
          </a:blip>
          <a:srcRect/>
          <a:stretch>
            <a:fillRect/>
          </a:stretch>
        </p:blipFill>
        <p:spPr bwMode="auto">
          <a:xfrm>
            <a:off x="2343807" y="1717894"/>
            <a:ext cx="7620000" cy="3648075"/>
          </a:xfrm>
          <a:prstGeom prst="rect">
            <a:avLst/>
          </a:prstGeom>
          <a:noFill/>
          <a:ln>
            <a:noFill/>
          </a:ln>
        </p:spPr>
      </p:pic>
    </p:spTree>
    <p:extLst>
      <p:ext uri="{BB962C8B-B14F-4D97-AF65-F5344CB8AC3E}">
        <p14:creationId xmlns:p14="http://schemas.microsoft.com/office/powerpoint/2010/main" val="778019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650815"/>
            <a:ext cx="9013660" cy="817832"/>
          </a:xfrm>
        </p:spPr>
        <p:txBody>
          <a:bodyPr>
            <a:normAutofit fontScale="90000"/>
          </a:bodyPr>
          <a:lstStyle/>
          <a:p>
            <a:r>
              <a:rPr lang="en-US" sz="4400" dirty="0"/>
              <a:t>GIT –Branches, Example in the Real World </a:t>
            </a:r>
          </a:p>
        </p:txBody>
      </p:sp>
      <p:sp>
        <p:nvSpPr>
          <p:cNvPr id="4" name="Text Placeholder 3"/>
          <p:cNvSpPr>
            <a:spLocks noGrp="1"/>
          </p:cNvSpPr>
          <p:nvPr>
            <p:ph type="body" sz="half" idx="2"/>
          </p:nvPr>
        </p:nvSpPr>
        <p:spPr>
          <a:xfrm>
            <a:off x="693414" y="1549998"/>
            <a:ext cx="9964470" cy="4311052"/>
          </a:xfrm>
        </p:spPr>
        <p:txBody>
          <a:bodyPr>
            <a:normAutofit/>
          </a:bodyPr>
          <a:lstStyle/>
          <a:p>
            <a:r>
              <a:rPr lang="en-US" sz="2400" dirty="0" err="1"/>
              <a:t>git</a:t>
            </a:r>
            <a:r>
              <a:rPr lang="en-US" sz="2400" dirty="0"/>
              <a:t> checkout master</a:t>
            </a:r>
          </a:p>
          <a:p>
            <a:r>
              <a:rPr lang="en-US" sz="2400" dirty="0" err="1"/>
              <a:t>git</a:t>
            </a:r>
            <a:r>
              <a:rPr lang="en-US" sz="2400" dirty="0"/>
              <a:t> merge hotfix</a:t>
            </a:r>
          </a:p>
          <a:p>
            <a:r>
              <a:rPr lang="en-US" sz="2400" dirty="0" err="1"/>
              <a:t>git</a:t>
            </a:r>
            <a:r>
              <a:rPr lang="en-US" sz="2400" dirty="0"/>
              <a:t> branch –d hotfix</a:t>
            </a:r>
          </a:p>
        </p:txBody>
      </p:sp>
      <p:sp>
        <p:nvSpPr>
          <p:cNvPr id="6" name="Footer Placeholder 4"/>
          <p:cNvSpPr>
            <a:spLocks noGrp="1"/>
          </p:cNvSpPr>
          <p:nvPr>
            <p:ph type="ftr" sz="quarter" idx="10"/>
          </p:nvPr>
        </p:nvSpPr>
        <p:spPr>
          <a:xfrm>
            <a:off x="4560849" y="6311900"/>
            <a:ext cx="3510775" cy="365125"/>
          </a:xfrm>
        </p:spPr>
        <p:txBody>
          <a:bodyPr/>
          <a:lstStyle/>
          <a:p>
            <a:r>
              <a:rPr lang="en-US" dirty="0"/>
              <a:t>Pro </a:t>
            </a:r>
            <a:r>
              <a:rPr lang="en-US" dirty="0" err="1"/>
              <a:t>Git</a:t>
            </a:r>
            <a:r>
              <a:rPr lang="en-US" dirty="0"/>
              <a:t> Book – Scott Chacon and Ben Straub</a:t>
            </a:r>
          </a:p>
          <a:p>
            <a:endParaRPr lang="en-US" dirty="0"/>
          </a:p>
        </p:txBody>
      </p:sp>
      <p:pic>
        <p:nvPicPr>
          <p:cNvPr id="7" name="Picture 6" descr="Work continues on `iss53`."/>
          <p:cNvPicPr/>
          <p:nvPr/>
        </p:nvPicPr>
        <p:blipFill>
          <a:blip r:embed="rId2">
            <a:extLst>
              <a:ext uri="{28A0092B-C50C-407E-A947-70E740481C1C}">
                <a14:useLocalDpi xmlns:a14="http://schemas.microsoft.com/office/drawing/2010/main" val="0"/>
              </a:ext>
            </a:extLst>
          </a:blip>
          <a:srcRect/>
          <a:stretch>
            <a:fillRect/>
          </a:stretch>
        </p:blipFill>
        <p:spPr bwMode="auto">
          <a:xfrm>
            <a:off x="2233448" y="1891011"/>
            <a:ext cx="7620000" cy="3629025"/>
          </a:xfrm>
          <a:prstGeom prst="rect">
            <a:avLst/>
          </a:prstGeom>
          <a:noFill/>
          <a:ln>
            <a:noFill/>
          </a:ln>
        </p:spPr>
      </p:pic>
    </p:spTree>
    <p:extLst>
      <p:ext uri="{BB962C8B-B14F-4D97-AF65-F5344CB8AC3E}">
        <p14:creationId xmlns:p14="http://schemas.microsoft.com/office/powerpoint/2010/main" val="4881762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650815"/>
            <a:ext cx="9013660" cy="817832"/>
          </a:xfrm>
        </p:spPr>
        <p:txBody>
          <a:bodyPr>
            <a:normAutofit fontScale="90000"/>
          </a:bodyPr>
          <a:lstStyle/>
          <a:p>
            <a:r>
              <a:rPr lang="en-US" sz="4400" dirty="0"/>
              <a:t>GIT –Branches, Example in the Real World </a:t>
            </a:r>
          </a:p>
        </p:txBody>
      </p:sp>
      <p:sp>
        <p:nvSpPr>
          <p:cNvPr id="4" name="Text Placeholder 3"/>
          <p:cNvSpPr>
            <a:spLocks noGrp="1"/>
          </p:cNvSpPr>
          <p:nvPr>
            <p:ph type="body" sz="half" idx="2"/>
          </p:nvPr>
        </p:nvSpPr>
        <p:spPr>
          <a:xfrm>
            <a:off x="693414" y="1549998"/>
            <a:ext cx="9964470" cy="4519726"/>
          </a:xfrm>
        </p:spPr>
        <p:txBody>
          <a:bodyPr>
            <a:normAutofit lnSpcReduction="10000"/>
          </a:bodyPr>
          <a:lstStyle/>
          <a:p>
            <a:r>
              <a:rPr lang="en-US" sz="2400" dirty="0"/>
              <a:t>Finish work iss53 and commit</a:t>
            </a:r>
          </a:p>
          <a:p>
            <a:r>
              <a:rPr lang="en-US" sz="2400" dirty="0" err="1"/>
              <a:t>git</a:t>
            </a:r>
            <a:r>
              <a:rPr lang="en-US" sz="2400" dirty="0"/>
              <a:t> checkout master</a:t>
            </a:r>
          </a:p>
          <a:p>
            <a:r>
              <a:rPr lang="en-US" sz="2400" dirty="0" err="1"/>
              <a:t>git</a:t>
            </a:r>
            <a:r>
              <a:rPr lang="en-US" sz="2400" dirty="0"/>
              <a:t> merge iss53</a:t>
            </a:r>
          </a:p>
          <a:p>
            <a:endParaRPr lang="en-US" sz="2400" dirty="0"/>
          </a:p>
          <a:p>
            <a:endParaRPr lang="en-US" sz="2400" dirty="0"/>
          </a:p>
          <a:p>
            <a:endParaRPr lang="en-US" sz="2400" dirty="0"/>
          </a:p>
          <a:p>
            <a:r>
              <a:rPr lang="en-US" sz="2400" dirty="0"/>
              <a:t>Instead of moving branch pointer forward, </a:t>
            </a:r>
            <a:r>
              <a:rPr lang="en-US" sz="2400" dirty="0" err="1"/>
              <a:t>Git</a:t>
            </a:r>
            <a:endParaRPr lang="en-US" sz="2400" dirty="0"/>
          </a:p>
          <a:p>
            <a:r>
              <a:rPr lang="en-US" sz="2400" dirty="0"/>
              <a:t>Creates a new snapshot that results from this </a:t>
            </a:r>
          </a:p>
          <a:p>
            <a:r>
              <a:rPr lang="en-US" sz="2400" dirty="0"/>
              <a:t>three-way merge and automatically creates a new commit that points to it, this is referred to as a merge commit, and is special in that it has more than one parent.  You can now delete the branch </a:t>
            </a:r>
            <a:r>
              <a:rPr lang="en-US" sz="2400" b="1" dirty="0" err="1"/>
              <a:t>git</a:t>
            </a:r>
            <a:r>
              <a:rPr lang="en-US" sz="2400" b="1" dirty="0"/>
              <a:t> branch –d iss53</a:t>
            </a:r>
            <a:r>
              <a:rPr lang="en-US" sz="2400" dirty="0"/>
              <a:t>.</a:t>
            </a:r>
          </a:p>
        </p:txBody>
      </p:sp>
      <p:sp>
        <p:nvSpPr>
          <p:cNvPr id="6" name="Footer Placeholder 4"/>
          <p:cNvSpPr>
            <a:spLocks noGrp="1"/>
          </p:cNvSpPr>
          <p:nvPr>
            <p:ph type="ftr" sz="quarter" idx="10"/>
          </p:nvPr>
        </p:nvSpPr>
        <p:spPr>
          <a:xfrm>
            <a:off x="4560849" y="6311900"/>
            <a:ext cx="3510775" cy="365125"/>
          </a:xfrm>
        </p:spPr>
        <p:txBody>
          <a:bodyPr/>
          <a:lstStyle/>
          <a:p>
            <a:r>
              <a:rPr lang="en-US" dirty="0"/>
              <a:t>Pro </a:t>
            </a:r>
            <a:r>
              <a:rPr lang="en-US" dirty="0" err="1"/>
              <a:t>Git</a:t>
            </a:r>
            <a:r>
              <a:rPr lang="en-US" dirty="0"/>
              <a:t> Book – Scott Chacon and Ben Straub</a:t>
            </a:r>
          </a:p>
          <a:p>
            <a:endParaRPr lang="en-US" dirty="0"/>
          </a:p>
        </p:txBody>
      </p:sp>
      <p:pic>
        <p:nvPicPr>
          <p:cNvPr id="9" name="Picture 8" descr="A merge commit."/>
          <p:cNvPicPr/>
          <p:nvPr/>
        </p:nvPicPr>
        <p:blipFill>
          <a:blip r:embed="rId2">
            <a:extLst>
              <a:ext uri="{28A0092B-C50C-407E-A947-70E740481C1C}">
                <a14:useLocalDpi xmlns:a14="http://schemas.microsoft.com/office/drawing/2010/main" val="0"/>
              </a:ext>
            </a:extLst>
          </a:blip>
          <a:srcRect/>
          <a:stretch>
            <a:fillRect/>
          </a:stretch>
        </p:blipFill>
        <p:spPr bwMode="auto">
          <a:xfrm>
            <a:off x="2506236" y="1919497"/>
            <a:ext cx="7620000" cy="3009900"/>
          </a:xfrm>
          <a:prstGeom prst="rect">
            <a:avLst/>
          </a:prstGeom>
          <a:noFill/>
          <a:ln>
            <a:noFill/>
          </a:ln>
        </p:spPr>
      </p:pic>
    </p:spTree>
    <p:extLst>
      <p:ext uri="{BB962C8B-B14F-4D97-AF65-F5344CB8AC3E}">
        <p14:creationId xmlns:p14="http://schemas.microsoft.com/office/powerpoint/2010/main" val="36700197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650815"/>
            <a:ext cx="7588495" cy="817832"/>
          </a:xfrm>
        </p:spPr>
        <p:txBody>
          <a:bodyPr>
            <a:normAutofit/>
          </a:bodyPr>
          <a:lstStyle/>
          <a:p>
            <a:r>
              <a:rPr lang="en-US" sz="4400" dirty="0"/>
              <a:t>GIT – Branching</a:t>
            </a:r>
          </a:p>
        </p:txBody>
      </p:sp>
      <p:sp>
        <p:nvSpPr>
          <p:cNvPr id="4" name="Text Placeholder 3"/>
          <p:cNvSpPr>
            <a:spLocks noGrp="1"/>
          </p:cNvSpPr>
          <p:nvPr>
            <p:ph type="body" sz="half" idx="2"/>
          </p:nvPr>
        </p:nvSpPr>
        <p:spPr>
          <a:xfrm>
            <a:off x="693414" y="1549998"/>
            <a:ext cx="9964470" cy="4311052"/>
          </a:xfrm>
        </p:spPr>
        <p:txBody>
          <a:bodyPr>
            <a:normAutofit/>
          </a:bodyPr>
          <a:lstStyle/>
          <a:p>
            <a:r>
              <a:rPr lang="en-US" sz="2400" b="1" dirty="0" err="1"/>
              <a:t>git</a:t>
            </a:r>
            <a:r>
              <a:rPr lang="en-US" sz="2400" b="1" dirty="0"/>
              <a:t> log –</a:t>
            </a:r>
            <a:r>
              <a:rPr lang="en-US" sz="2400" b="1" dirty="0" err="1"/>
              <a:t>oneline</a:t>
            </a:r>
            <a:r>
              <a:rPr lang="en-US" sz="2400" b="1" dirty="0"/>
              <a:t> –decorate    </a:t>
            </a:r>
            <a:r>
              <a:rPr lang="en-US" sz="2400" dirty="0"/>
              <a:t>shows you where the branch pointers are pointing</a:t>
            </a:r>
          </a:p>
          <a:p>
            <a:br>
              <a:rPr lang="en-US" sz="2400" dirty="0"/>
            </a:br>
            <a:endParaRPr lang="en-US" sz="2400" b="1" dirty="0"/>
          </a:p>
          <a:p>
            <a:pPr>
              <a:spcBef>
                <a:spcPts val="600"/>
              </a:spcBef>
            </a:pPr>
            <a:endParaRPr lang="en-US" sz="2400" dirty="0"/>
          </a:p>
          <a:p>
            <a:pPr>
              <a:spcBef>
                <a:spcPts val="600"/>
              </a:spcBef>
            </a:pPr>
            <a:endParaRPr lang="en-US" sz="2400" dirty="0"/>
          </a:p>
          <a:p>
            <a:pPr>
              <a:spcBef>
                <a:spcPts val="600"/>
              </a:spcBef>
            </a:pPr>
            <a:endParaRPr lang="en-US" sz="2400" dirty="0"/>
          </a:p>
          <a:p>
            <a:pPr>
              <a:spcBef>
                <a:spcPts val="600"/>
              </a:spcBef>
            </a:pPr>
            <a:endParaRPr lang="en-US" sz="2400" dirty="0"/>
          </a:p>
          <a:p>
            <a:pPr>
              <a:spcBef>
                <a:spcPts val="600"/>
              </a:spcBef>
            </a:pPr>
            <a:endParaRPr lang="en-US" sz="2400" dirty="0"/>
          </a:p>
          <a:p>
            <a:pPr>
              <a:spcBef>
                <a:spcPts val="600"/>
              </a:spcBef>
            </a:pPr>
            <a:r>
              <a:rPr lang="en-US" sz="2400" dirty="0"/>
              <a:t>Can see the “master” and “testing” branches that are right there next to the f30ab commit.  	</a:t>
            </a:r>
            <a:br>
              <a:rPr lang="en-US" sz="2400" dirty="0"/>
            </a:br>
            <a:endParaRPr lang="en-US" sz="2400" dirty="0"/>
          </a:p>
        </p:txBody>
      </p:sp>
      <p:sp>
        <p:nvSpPr>
          <p:cNvPr id="6" name="Footer Placeholder 4"/>
          <p:cNvSpPr>
            <a:spLocks noGrp="1"/>
          </p:cNvSpPr>
          <p:nvPr>
            <p:ph type="ftr" sz="quarter" idx="10"/>
          </p:nvPr>
        </p:nvSpPr>
        <p:spPr>
          <a:xfrm>
            <a:off x="4560849" y="6311900"/>
            <a:ext cx="3510775" cy="365125"/>
          </a:xfrm>
        </p:spPr>
        <p:txBody>
          <a:bodyPr/>
          <a:lstStyle/>
          <a:p>
            <a:r>
              <a:rPr lang="en-US" dirty="0"/>
              <a:t>Pro </a:t>
            </a:r>
            <a:r>
              <a:rPr lang="en-US" dirty="0" err="1"/>
              <a:t>Git</a:t>
            </a:r>
            <a:r>
              <a:rPr lang="en-US" dirty="0"/>
              <a:t> Book – Scott Chacon and Ben Straub</a:t>
            </a:r>
          </a:p>
          <a:p>
            <a:endParaRPr lang="en-US" dirty="0"/>
          </a:p>
        </p:txBody>
      </p:sp>
      <p:pic>
        <p:nvPicPr>
          <p:cNvPr id="8" name="Picture 7"/>
          <p:cNvPicPr/>
          <p:nvPr/>
        </p:nvPicPr>
        <p:blipFill rotWithShape="1">
          <a:blip r:embed="rId2"/>
          <a:srcRect l="32849" t="24808" r="34497" b="63584"/>
          <a:stretch/>
        </p:blipFill>
        <p:spPr bwMode="auto">
          <a:xfrm>
            <a:off x="1326434" y="2096638"/>
            <a:ext cx="7693572" cy="247536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8749905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3081</TotalTime>
  <Words>2429</Words>
  <Application>Microsoft Office PowerPoint</Application>
  <PresentationFormat>Widescreen</PresentationFormat>
  <Paragraphs>267</Paragraphs>
  <Slides>43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Arial</vt:lpstr>
      <vt:lpstr>Calibri</vt:lpstr>
      <vt:lpstr>Calibri Light</vt:lpstr>
      <vt:lpstr>SFMono-Regular</vt:lpstr>
      <vt:lpstr>Office Theme</vt:lpstr>
      <vt:lpstr>Version Control  </vt:lpstr>
      <vt:lpstr>GIT</vt:lpstr>
      <vt:lpstr>GIT – Distributed Version Control System </vt:lpstr>
      <vt:lpstr>Install GIT</vt:lpstr>
      <vt:lpstr>GIT – First-Time Setup</vt:lpstr>
      <vt:lpstr>GIT – How it Stores Data</vt:lpstr>
      <vt:lpstr>GIT – How it Stores Data</vt:lpstr>
      <vt:lpstr>GIT – How it Stores Data</vt:lpstr>
      <vt:lpstr>GIT – Branch</vt:lpstr>
      <vt:lpstr>PowerPoint Presentation</vt:lpstr>
      <vt:lpstr>PowerPoint Presentation</vt:lpstr>
      <vt:lpstr>PowerPoint Presentation</vt:lpstr>
      <vt:lpstr>PowerPoint Presentation</vt:lpstr>
      <vt:lpstr>PowerPoint Presentation</vt:lpstr>
      <vt:lpstr>The Three States </vt:lpstr>
      <vt:lpstr>PowerPoint Presentation</vt:lpstr>
      <vt:lpstr>GIT – Tracked Files </vt:lpstr>
      <vt:lpstr>GIT </vt:lpstr>
      <vt:lpstr>Git Hub</vt:lpstr>
      <vt:lpstr>github.com</vt:lpstr>
      <vt:lpstr>GitHub</vt:lpstr>
      <vt:lpstr>PowerPoint Presentation</vt:lpstr>
      <vt:lpstr>GIT – Working with Remotes</vt:lpstr>
      <vt:lpstr>GIT – Working with Remotes</vt:lpstr>
      <vt:lpstr>Create a New Repository</vt:lpstr>
      <vt:lpstr>GIT – Working with Remotes</vt:lpstr>
      <vt:lpstr>GIT – Conflicts</vt:lpstr>
      <vt:lpstr>GitHub Desktop</vt:lpstr>
      <vt:lpstr>GitHub Contributing to a Project</vt:lpstr>
      <vt:lpstr>GitHub Contributing to a Project</vt:lpstr>
      <vt:lpstr>GitHub</vt:lpstr>
      <vt:lpstr>Git Hub – git cheat sheet </vt:lpstr>
      <vt:lpstr>GIT – Branching</vt:lpstr>
      <vt:lpstr>GIT – Branching</vt:lpstr>
      <vt:lpstr>GIT – Switching Branches</vt:lpstr>
      <vt:lpstr>GIT –Branches</vt:lpstr>
      <vt:lpstr>GIT –Branches</vt:lpstr>
      <vt:lpstr>GIT –Branches</vt:lpstr>
      <vt:lpstr>GIT –Branches, Example in the Real World </vt:lpstr>
      <vt:lpstr>GIT –Branches, Example in the Real World </vt:lpstr>
      <vt:lpstr>GIT –Branches, Example in the Real World </vt:lpstr>
      <vt:lpstr>GIT –Branches, Example in the Real World </vt:lpstr>
      <vt:lpstr>GIT – Branching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Duce, Patricia</dc:creator>
  <cp:lastModifiedBy>Duce, Patricia</cp:lastModifiedBy>
  <cp:revision>87</cp:revision>
  <cp:lastPrinted>2017-08-29T20:05:30Z</cp:lastPrinted>
  <dcterms:created xsi:type="dcterms:W3CDTF">2016-07-20T22:00:46Z</dcterms:created>
  <dcterms:modified xsi:type="dcterms:W3CDTF">2024-09-12T17:51:11Z</dcterms:modified>
</cp:coreProperties>
</file>