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92" r:id="rId4"/>
    <p:sldId id="293" r:id="rId5"/>
    <p:sldId id="294" r:id="rId6"/>
    <p:sldId id="295" r:id="rId7"/>
    <p:sldId id="257" r:id="rId8"/>
    <p:sldId id="263" r:id="rId9"/>
    <p:sldId id="264" r:id="rId10"/>
    <p:sldId id="269" r:id="rId11"/>
    <p:sldId id="270" r:id="rId12"/>
    <p:sldId id="271" r:id="rId13"/>
    <p:sldId id="29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570D63-EB04-44D0-8CD2-E6D92E912164}" v="4" dt="2022-08-31T22:26:32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4C570D63-EB04-44D0-8CD2-E6D92E912164}"/>
    <pc:docChg chg="custSel addSld modSld">
      <pc:chgData name="Duce, Patricia" userId="63213659-433f-4003-8b64-f125efbf754c" providerId="ADAL" clId="{4C570D63-EB04-44D0-8CD2-E6D92E912164}" dt="2022-08-31T22:26:32.903" v="17"/>
      <pc:docMkLst>
        <pc:docMk/>
      </pc:docMkLst>
      <pc:sldChg chg="addSp delSp modSp mod">
        <pc:chgData name="Duce, Patricia" userId="63213659-433f-4003-8b64-f125efbf754c" providerId="ADAL" clId="{4C570D63-EB04-44D0-8CD2-E6D92E912164}" dt="2022-08-31T22:26:05.932" v="15" actId="1076"/>
        <pc:sldMkLst>
          <pc:docMk/>
          <pc:sldMk cId="461548713" sldId="271"/>
        </pc:sldMkLst>
        <pc:spChg chg="add del mod">
          <ac:chgData name="Duce, Patricia" userId="63213659-433f-4003-8b64-f125efbf754c" providerId="ADAL" clId="{4C570D63-EB04-44D0-8CD2-E6D92E912164}" dt="2022-08-31T22:26:02.757" v="14"/>
          <ac:spMkLst>
            <pc:docMk/>
            <pc:sldMk cId="461548713" sldId="271"/>
            <ac:spMk id="3" creationId="{AD076F4C-8099-75D0-5FFB-2B7E82364CCE}"/>
          </ac:spMkLst>
        </pc:spChg>
        <pc:graphicFrameChg chg="del mod modGraphic">
          <ac:chgData name="Duce, Patricia" userId="63213659-433f-4003-8b64-f125efbf754c" providerId="ADAL" clId="{4C570D63-EB04-44D0-8CD2-E6D92E912164}" dt="2022-08-31T22:25:43.616" v="13" actId="478"/>
          <ac:graphicFrameMkLst>
            <pc:docMk/>
            <pc:sldMk cId="461548713" sldId="271"/>
            <ac:graphicFrameMk id="4" creationId="{A9E87482-899A-4C5D-BD93-7498ECFEE4F1}"/>
          </ac:graphicFrameMkLst>
        </pc:graphicFrameChg>
        <pc:graphicFrameChg chg="add mod">
          <ac:chgData name="Duce, Patricia" userId="63213659-433f-4003-8b64-f125efbf754c" providerId="ADAL" clId="{4C570D63-EB04-44D0-8CD2-E6D92E912164}" dt="2022-08-31T22:26:05.932" v="15" actId="1076"/>
          <ac:graphicFrameMkLst>
            <pc:docMk/>
            <pc:sldMk cId="461548713" sldId="271"/>
            <ac:graphicFrameMk id="5" creationId="{54068AF5-3204-F0E2-74A0-DA8D4B8F2D9B}"/>
          </ac:graphicFrameMkLst>
        </pc:graphicFrameChg>
      </pc:sldChg>
      <pc:sldChg chg="modSp mod">
        <pc:chgData name="Duce, Patricia" userId="63213659-433f-4003-8b64-f125efbf754c" providerId="ADAL" clId="{4C570D63-EB04-44D0-8CD2-E6D92E912164}" dt="2022-08-31T22:20:29.811" v="0" actId="113"/>
        <pc:sldMkLst>
          <pc:docMk/>
          <pc:sldMk cId="4081769918" sldId="288"/>
        </pc:sldMkLst>
        <pc:spChg chg="mod">
          <ac:chgData name="Duce, Patricia" userId="63213659-433f-4003-8b64-f125efbf754c" providerId="ADAL" clId="{4C570D63-EB04-44D0-8CD2-E6D92E912164}" dt="2022-08-31T22:20:29.811" v="0" actId="113"/>
          <ac:spMkLst>
            <pc:docMk/>
            <pc:sldMk cId="4081769918" sldId="288"/>
            <ac:spMk id="3" creationId="{00000000-0000-0000-0000-000000000000}"/>
          </ac:spMkLst>
        </pc:spChg>
      </pc:sldChg>
      <pc:sldChg chg="modSp mod">
        <pc:chgData name="Duce, Patricia" userId="63213659-433f-4003-8b64-f125efbf754c" providerId="ADAL" clId="{4C570D63-EB04-44D0-8CD2-E6D92E912164}" dt="2022-08-31T22:20:38.808" v="1" actId="113"/>
        <pc:sldMkLst>
          <pc:docMk/>
          <pc:sldMk cId="119001880" sldId="292"/>
        </pc:sldMkLst>
        <pc:spChg chg="mod">
          <ac:chgData name="Duce, Patricia" userId="63213659-433f-4003-8b64-f125efbf754c" providerId="ADAL" clId="{4C570D63-EB04-44D0-8CD2-E6D92E912164}" dt="2022-08-31T22:20:38.808" v="1" actId="113"/>
          <ac:spMkLst>
            <pc:docMk/>
            <pc:sldMk cId="119001880" sldId="292"/>
            <ac:spMk id="3" creationId="{8E9CE901-3A00-4A91-9258-EE5031B6CDF5}"/>
          </ac:spMkLst>
        </pc:spChg>
      </pc:sldChg>
      <pc:sldChg chg="modSp mod">
        <pc:chgData name="Duce, Patricia" userId="63213659-433f-4003-8b64-f125efbf754c" providerId="ADAL" clId="{4C570D63-EB04-44D0-8CD2-E6D92E912164}" dt="2022-08-31T22:20:53.033" v="2" actId="113"/>
        <pc:sldMkLst>
          <pc:docMk/>
          <pc:sldMk cId="3589473710" sldId="293"/>
        </pc:sldMkLst>
        <pc:spChg chg="mod">
          <ac:chgData name="Duce, Patricia" userId="63213659-433f-4003-8b64-f125efbf754c" providerId="ADAL" clId="{4C570D63-EB04-44D0-8CD2-E6D92E912164}" dt="2022-08-31T22:20:53.033" v="2" actId="113"/>
          <ac:spMkLst>
            <pc:docMk/>
            <pc:sldMk cId="3589473710" sldId="293"/>
            <ac:spMk id="3" creationId="{045D64CF-3A63-4E84-9223-4FFB8DA0ADB3}"/>
          </ac:spMkLst>
        </pc:spChg>
      </pc:sldChg>
      <pc:sldChg chg="modSp mod">
        <pc:chgData name="Duce, Patricia" userId="63213659-433f-4003-8b64-f125efbf754c" providerId="ADAL" clId="{4C570D63-EB04-44D0-8CD2-E6D92E912164}" dt="2022-08-31T22:21:32.351" v="7" actId="20577"/>
        <pc:sldMkLst>
          <pc:docMk/>
          <pc:sldMk cId="1289004932" sldId="295"/>
        </pc:sldMkLst>
        <pc:spChg chg="mod">
          <ac:chgData name="Duce, Patricia" userId="63213659-433f-4003-8b64-f125efbf754c" providerId="ADAL" clId="{4C570D63-EB04-44D0-8CD2-E6D92E912164}" dt="2022-08-31T22:21:32.351" v="7" actId="20577"/>
          <ac:spMkLst>
            <pc:docMk/>
            <pc:sldMk cId="1289004932" sldId="295"/>
            <ac:spMk id="3" creationId="{045D64CF-3A63-4E84-9223-4FFB8DA0ADB3}"/>
          </ac:spMkLst>
        </pc:spChg>
      </pc:sldChg>
      <pc:sldChg chg="modSp add">
        <pc:chgData name="Duce, Patricia" userId="63213659-433f-4003-8b64-f125efbf754c" providerId="ADAL" clId="{4C570D63-EB04-44D0-8CD2-E6D92E912164}" dt="2022-08-31T22:26:32.903" v="17"/>
        <pc:sldMkLst>
          <pc:docMk/>
          <pc:sldMk cId="1089868855" sldId="296"/>
        </pc:sldMkLst>
        <pc:graphicFrameChg chg="mod">
          <ac:chgData name="Duce, Patricia" userId="63213659-433f-4003-8b64-f125efbf754c" providerId="ADAL" clId="{4C570D63-EB04-44D0-8CD2-E6D92E912164}" dt="2022-08-31T22:26:32.903" v="17"/>
          <ac:graphicFrameMkLst>
            <pc:docMk/>
            <pc:sldMk cId="1089868855" sldId="296"/>
            <ac:graphicFrameMk id="5" creationId="{54068AF5-3204-F0E2-74A0-DA8D4B8F2D9B}"/>
          </ac:graphicFrameMkLst>
        </pc:graphicFrameChg>
      </pc:sldChg>
    </pc:docChg>
  </pc:docChgLst>
  <pc:docChgLst>
    <pc:chgData name="Duce, Patricia" userId="63213659-433f-4003-8b64-f125efbf754c" providerId="ADAL" clId="{D59FE401-9C01-4F78-916F-EE3F920D4FE4}"/>
    <pc:docChg chg="undo custSel delSld modSld">
      <pc:chgData name="Duce, Patricia" userId="63213659-433f-4003-8b64-f125efbf754c" providerId="ADAL" clId="{D59FE401-9C01-4F78-916F-EE3F920D4FE4}" dt="2021-08-19T01:55:17.218" v="9" actId="1076"/>
      <pc:docMkLst>
        <pc:docMk/>
      </pc:docMkLst>
      <pc:sldChg chg="modSp mod">
        <pc:chgData name="Duce, Patricia" userId="63213659-433f-4003-8b64-f125efbf754c" providerId="ADAL" clId="{D59FE401-9C01-4F78-916F-EE3F920D4FE4}" dt="2021-08-19T01:55:17.218" v="9" actId="1076"/>
        <pc:sldMkLst>
          <pc:docMk/>
          <pc:sldMk cId="3667422821" sldId="257"/>
        </pc:sldMkLst>
        <pc:spChg chg="mod">
          <ac:chgData name="Duce, Patricia" userId="63213659-433f-4003-8b64-f125efbf754c" providerId="ADAL" clId="{D59FE401-9C01-4F78-916F-EE3F920D4FE4}" dt="2021-08-19T01:55:17.218" v="9" actId="1076"/>
          <ac:spMkLst>
            <pc:docMk/>
            <pc:sldMk cId="3667422821" sldId="257"/>
            <ac:spMk id="3" creationId="{8F7E50BB-C201-4F72-B53F-1CA8E8CAD0C2}"/>
          </ac:spMkLst>
        </pc:spChg>
      </pc:sldChg>
      <pc:sldChg chg="del">
        <pc:chgData name="Duce, Patricia" userId="63213659-433f-4003-8b64-f125efbf754c" providerId="ADAL" clId="{D59FE401-9C01-4F78-916F-EE3F920D4FE4}" dt="2021-08-19T00:55:16.255" v="0" actId="2696"/>
        <pc:sldMkLst>
          <pc:docMk/>
          <pc:sldMk cId="1084826956" sldId="266"/>
        </pc:sldMkLst>
      </pc:sldChg>
      <pc:sldChg chg="del">
        <pc:chgData name="Duce, Patricia" userId="63213659-433f-4003-8b64-f125efbf754c" providerId="ADAL" clId="{D59FE401-9C01-4F78-916F-EE3F920D4FE4}" dt="2021-08-19T00:55:16.255" v="0" actId="2696"/>
        <pc:sldMkLst>
          <pc:docMk/>
          <pc:sldMk cId="681253347" sldId="267"/>
        </pc:sldMkLst>
      </pc:sldChg>
      <pc:sldChg chg="del">
        <pc:chgData name="Duce, Patricia" userId="63213659-433f-4003-8b64-f125efbf754c" providerId="ADAL" clId="{D59FE401-9C01-4F78-916F-EE3F920D4FE4}" dt="2021-08-19T00:55:16.255" v="0" actId="2696"/>
        <pc:sldMkLst>
          <pc:docMk/>
          <pc:sldMk cId="2669418843" sldId="268"/>
        </pc:sldMkLst>
      </pc:sldChg>
      <pc:sldChg chg="modSp mod">
        <pc:chgData name="Duce, Patricia" userId="63213659-433f-4003-8b64-f125efbf754c" providerId="ADAL" clId="{D59FE401-9C01-4F78-916F-EE3F920D4FE4}" dt="2021-08-19T01:51:28.486" v="8" actId="21"/>
        <pc:sldMkLst>
          <pc:docMk/>
          <pc:sldMk cId="524525345" sldId="270"/>
        </pc:sldMkLst>
        <pc:spChg chg="mod">
          <ac:chgData name="Duce, Patricia" userId="63213659-433f-4003-8b64-f125efbf754c" providerId="ADAL" clId="{D59FE401-9C01-4F78-916F-EE3F920D4FE4}" dt="2021-08-19T01:51:28.486" v="8" actId="21"/>
          <ac:spMkLst>
            <pc:docMk/>
            <pc:sldMk cId="524525345" sldId="270"/>
            <ac:spMk id="3" creationId="{F60877C4-AE45-4C75-8E00-2044FB2E1648}"/>
          </ac:spMkLst>
        </pc:spChg>
      </pc:sldChg>
      <pc:sldChg chg="del">
        <pc:chgData name="Duce, Patricia" userId="63213659-433f-4003-8b64-f125efbf754c" providerId="ADAL" clId="{D59FE401-9C01-4F78-916F-EE3F920D4FE4}" dt="2021-08-19T01:39:17.355" v="4" actId="2696"/>
        <pc:sldMkLst>
          <pc:docMk/>
          <pc:sldMk cId="1668903847" sldId="272"/>
        </pc:sldMkLst>
      </pc:sldChg>
      <pc:sldChg chg="del">
        <pc:chgData name="Duce, Patricia" userId="63213659-433f-4003-8b64-f125efbf754c" providerId="ADAL" clId="{D59FE401-9C01-4F78-916F-EE3F920D4FE4}" dt="2021-08-19T01:39:25.350" v="5" actId="2696"/>
        <pc:sldMkLst>
          <pc:docMk/>
          <pc:sldMk cId="1319238428" sldId="273"/>
        </pc:sldMkLst>
      </pc:sldChg>
      <pc:sldChg chg="del">
        <pc:chgData name="Duce, Patricia" userId="63213659-433f-4003-8b64-f125efbf754c" providerId="ADAL" clId="{D59FE401-9C01-4F78-916F-EE3F920D4FE4}" dt="2021-08-19T01:39:31.684" v="6" actId="2696"/>
        <pc:sldMkLst>
          <pc:docMk/>
          <pc:sldMk cId="1985477635" sldId="274"/>
        </pc:sldMkLst>
      </pc:sldChg>
      <pc:sldChg chg="del">
        <pc:chgData name="Duce, Patricia" userId="63213659-433f-4003-8b64-f125efbf754c" providerId="ADAL" clId="{D59FE401-9C01-4F78-916F-EE3F920D4FE4}" dt="2021-08-19T01:38:44.814" v="3" actId="2696"/>
        <pc:sldMkLst>
          <pc:docMk/>
          <pc:sldMk cId="3304152113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FB0E0-1326-4DD3-88C6-917A2592C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9F640-1A24-4E71-A9BB-31E30A989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070F8-77AB-40EA-A130-6830AC281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9EF7C-C270-4C26-9990-E463D57D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0D0F5-0753-45DB-8DD1-66C39A5D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7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1B86-C660-4BA8-9449-E2B81D32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E3C3-1AED-4DD4-9192-8E096CB33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6E3601-30DB-4411-9F10-C75E07D6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5FA19-E59D-4540-9DA7-346E032A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8C899-D3FB-4DB7-BE65-A5B9353D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707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0B8A-A64B-4533-9CDF-8564D6373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10161-406B-480F-A60D-E8B0334D8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7B4D4-682F-403D-B65A-2CEFA373C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515D8-9E42-4163-89FD-670A0ECC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84FFF-B7AE-4C38-A7AB-EB35DC0CA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7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7B53C-A42B-45E5-B44B-3F40654A7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C49C5-B2C8-4777-96C4-74418C421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B8343-C70A-4298-B23F-E0E05AADC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4D98C-2683-45D5-828D-1B6390FA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9A130-16FF-4555-B2FC-7ABE9E9A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7285F-46D3-46CE-B066-828B76C6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5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CD131-303B-4935-9E48-079B7B54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E529E-2751-4EC5-86A1-472406CDC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5412F-274E-49C8-8CB5-FD7B1AF65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E92B12-371B-4A77-BFE4-06F2F196C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F140BC-1A2A-424A-ADE2-B3C10F788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361405-4E17-4A65-A15D-AB7A04862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2E6FAD-3745-41FC-B061-E1DF26815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E6A48B-A304-4D1A-9192-78FA0BE47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39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27BA-13A5-42C5-BE9E-CDBA47C63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DDB5A-60F5-42C6-922B-EACF055D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24CC0-E972-4F7D-889A-6C0AE8A98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4F87D-7031-4175-A801-82998A32E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32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FC2758-EDE2-4806-834C-2A29199A4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4B051-586A-4735-A54F-6409D2E7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4852E-B4AE-488C-B175-328EEF57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27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BBDD-FADE-452F-87EE-222831AD4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5FA57-557E-4C72-9CB2-4A7D766AC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BBB63-5D5B-4249-B34C-E5F1B311E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B4158-DF95-4880-9D2C-842AF2A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83807-19E5-4223-97A7-BD19A6FA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2F9DA8-F967-48E4-BE5E-6CB5100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00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5AB95-79B5-4474-BD00-33BD0F1C3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18ED3-7B1C-4D05-80D3-E394EB5F2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641223-F13C-4DF4-9BDF-63A93D41E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BB8CD-84D5-4DFF-9C4C-A8565BD7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9AE6F-7560-416B-BF40-CAF3CD1A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066AF-9FC1-4AD6-BAAC-C0DD18E4C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11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F0E4C-8AC5-44D2-B3D2-C70D8C08D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3565D-E21D-4218-9DBC-22D9F2984F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9D6A3-AD8A-4B05-9CA1-98464B1F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E7A1E-D874-424F-849E-6FECF122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1804A-2CDD-4D1C-8914-39AFE5E88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91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D71C6E-F971-48EB-8AB0-63539990A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84F5F-FA99-4790-85AD-2A149F9F6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9D8C2-9B3C-426E-88C0-C21E67F2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924D5-1C5C-4803-A292-A80B33A7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5B631-3D1D-4D96-8C72-25ACBAA28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868E12-0660-476E-A57F-D8295F21B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E65A-0191-4E68-A7ED-F426653FB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84940-64D1-4460-8908-E9C8A6F19F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59557-F90F-48B9-BF3C-2F3A8EDD850C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D5877-D5B9-4804-AF72-C7870325E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F6116-65BA-42A2-9E0B-7A5D1062D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25931-797D-4916-81E8-AFE6C445F1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C925-04C2-4B2A-86B9-526EB668BA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Frameworks</a:t>
            </a:r>
          </a:p>
        </p:txBody>
      </p:sp>
    </p:spTree>
    <p:extLst>
      <p:ext uri="{BB962C8B-B14F-4D97-AF65-F5344CB8AC3E}">
        <p14:creationId xmlns:p14="http://schemas.microsoft.com/office/powerpoint/2010/main" val="1153365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6471"/>
            <a:ext cx="10515600" cy="3870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approach allows web developers to </a:t>
            </a:r>
            <a:r>
              <a:rPr lang="en-US" b="1" dirty="0"/>
              <a:t>focus on what makes a web application unique</a:t>
            </a:r>
            <a:r>
              <a:rPr lang="en-US" dirty="0"/>
              <a:t> rather than reinventing the wheel every time for standard, secure web application functionality.</a:t>
            </a:r>
          </a:p>
        </p:txBody>
      </p:sp>
    </p:spTree>
    <p:extLst>
      <p:ext uri="{BB962C8B-B14F-4D97-AF65-F5344CB8AC3E}">
        <p14:creationId xmlns:p14="http://schemas.microsoft.com/office/powerpoint/2010/main" val="4081769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ABD9-3103-4FC9-B5D6-0563A2C42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Difference between a Framework and a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CE901-3A00-4A91-9258-EE5031B6C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Both frameworks and libraries are </a:t>
            </a:r>
            <a:r>
              <a:rPr lang="en-US" b="1" dirty="0">
                <a:ea typeface="+mn-lt"/>
                <a:cs typeface="+mn-lt"/>
              </a:rPr>
              <a:t>code written by someone else </a:t>
            </a:r>
            <a:r>
              <a:rPr lang="en-US" dirty="0">
                <a:ea typeface="+mn-lt"/>
                <a:cs typeface="+mn-lt"/>
              </a:rPr>
              <a:t>that is used to help solve common problems.</a:t>
            </a: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Their purpose is to help you solve common problems in easier ways.</a:t>
            </a:r>
            <a:endParaRPr lang="en-US" dirty="0"/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9001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1379-375A-4A77-93FF-7E15297D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Library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D64CF-3A63-4E84-9223-4FFB8DA0A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 library is like going to Ikea. You already have a home, but you need a bit of help with furniture. You don’t feel like making your own table from scratch. Ikea allows you to pick and choose different things to go in your home. </a:t>
            </a:r>
            <a:r>
              <a:rPr lang="en-US" b="1" dirty="0">
                <a:ea typeface="+mn-lt"/>
                <a:cs typeface="+mn-lt"/>
              </a:rPr>
              <a:t>You are in control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89473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1379-375A-4A77-93FF-7E15297D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D64CF-3A63-4E84-9223-4FFB8DA0A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 framework, on the other hand, is like building a model home. You have a set of blueprints and a few </a:t>
            </a:r>
            <a:r>
              <a:rPr lang="en-US" i="1" dirty="0">
                <a:ea typeface="+mn-lt"/>
                <a:cs typeface="+mn-lt"/>
              </a:rPr>
              <a:t>limited</a:t>
            </a:r>
            <a:r>
              <a:rPr lang="en-US" dirty="0">
                <a:ea typeface="+mn-lt"/>
                <a:cs typeface="+mn-lt"/>
              </a:rPr>
              <a:t> choices when it comes to architecture and design. Ultimately, the contractor and blueprint are in control. And they will let you know when and where you can provide your input.</a:t>
            </a:r>
          </a:p>
        </p:txBody>
      </p:sp>
    </p:spTree>
    <p:extLst>
      <p:ext uri="{BB962C8B-B14F-4D97-AF65-F5344CB8AC3E}">
        <p14:creationId xmlns:p14="http://schemas.microsoft.com/office/powerpoint/2010/main" val="291408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1379-375A-4A77-93FF-7E15297D8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Technical difference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D64CF-3A63-4E84-9223-4FFB8DA0A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The technical difference between a framework and library lies in a term called </a:t>
            </a:r>
            <a:r>
              <a:rPr lang="en-US" b="1" dirty="0">
                <a:ea typeface="+mn-lt"/>
                <a:cs typeface="+mn-lt"/>
              </a:rPr>
              <a:t>inversion of control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When you use a library, </a:t>
            </a:r>
            <a:r>
              <a:rPr lang="en-US" b="1" dirty="0">
                <a:ea typeface="+mn-lt"/>
                <a:cs typeface="+mn-lt"/>
              </a:rPr>
              <a:t>you are in charge </a:t>
            </a:r>
            <a:r>
              <a:rPr lang="en-US" dirty="0">
                <a:ea typeface="+mn-lt"/>
                <a:cs typeface="+mn-lt"/>
              </a:rPr>
              <a:t>of the flow of the application. You are choosing when and where to call the library. 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When you use a framework, the </a:t>
            </a:r>
            <a:r>
              <a:rPr lang="en-US" b="1" dirty="0">
                <a:ea typeface="+mn-lt"/>
                <a:cs typeface="+mn-lt"/>
              </a:rPr>
              <a:t>framework is in charge</a:t>
            </a:r>
            <a:r>
              <a:rPr lang="en-US" dirty="0">
                <a:ea typeface="+mn-lt"/>
                <a:cs typeface="+mn-lt"/>
              </a:rPr>
              <a:t> of the flow. It provides some places for you to plug in your code, but it calls the code you plugged in as needed.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89004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50BB-C201-4F72-B53F-1CA8E8CAD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39" y="13307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Frameworks and libraries </a:t>
            </a:r>
            <a:r>
              <a:rPr lang="en-US" dirty="0"/>
              <a:t>are both code written by someone else that helps you perform some common tasks in a less verbose way.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framework</a:t>
            </a:r>
            <a:r>
              <a:rPr lang="en-US" dirty="0"/>
              <a:t> inverts the control of the program. It tells the developer what they need. A library doesn’t. The programmer calls the </a:t>
            </a:r>
            <a:r>
              <a:rPr lang="en-US" b="1" dirty="0"/>
              <a:t>library</a:t>
            </a:r>
            <a:r>
              <a:rPr lang="en-US" dirty="0"/>
              <a:t> where and when they need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avenirltstd-light"/>
              </a:rPr>
              <a:t>A </a:t>
            </a:r>
            <a:r>
              <a:rPr lang="en-US" b="1" i="0" dirty="0">
                <a:solidFill>
                  <a:srgbClr val="212121"/>
                </a:solidFill>
                <a:effectLst/>
                <a:latin typeface="avenirltstd-light"/>
              </a:rPr>
              <a:t>software framework</a:t>
            </a:r>
            <a:r>
              <a:rPr lang="en-US" b="0" i="0" dirty="0">
                <a:solidFill>
                  <a:srgbClr val="212121"/>
                </a:solidFill>
                <a:effectLst/>
                <a:latin typeface="avenirltstd-light"/>
              </a:rPr>
              <a:t> is a foundation where developers can make applications in a faster and standardized way.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422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7C63-35C7-47E7-AEA4-524E9CD68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965C7-EF14-497E-B521-2D69E06D1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333333"/>
                </a:solidFill>
                <a:effectLst/>
                <a:latin typeface="TradeGothicNextW01-Ligh 693250"/>
                <a:ea typeface="Times New Roman" panose="02020603050405020304" pitchFamily="18" charset="0"/>
                <a:cs typeface="Times New Roman" panose="02020603050405020304" pitchFamily="18" charset="0"/>
              </a:rPr>
              <a:t>Backend development essentially refers to everything that goes on behind the scenes. What happens at the backend — or server-side — powers what happens at the frontend, i.e. what the user sees and interacts with. 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13803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BB0D2-C092-4443-A68E-5C5938DE0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B4928-87A1-4773-A5ED-39F57D89A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>
                <a:solidFill>
                  <a:srgbClr val="333333"/>
                </a:solidFill>
                <a:effectLst/>
                <a:latin typeface="TradeGothicNextW01-Ligh 693250"/>
                <a:ea typeface="Times New Roman" panose="02020603050405020304" pitchFamily="18" charset="0"/>
                <a:cs typeface="Times New Roman" panose="02020603050405020304" pitchFamily="18" charset="0"/>
              </a:rPr>
              <a:t>The frontend of a website, also known as client-side, is what the end user sees and interacts with. Frontend languages include HTML, CSS and JavaScript, which all have a hand in determining the visual output of a website.</a:t>
            </a:r>
            <a:endParaRPr lang="en-US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40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C785-1EB2-4283-ADCE-01435635C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core advantages of using a framework for development are: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64DB6-2BAF-4AA3-BF0B-F35AA684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121"/>
                </a:solidFill>
                <a:effectLst/>
                <a:latin typeface="avenirltstd-light"/>
              </a:rPr>
              <a:t>Faster development timeline:</a:t>
            </a:r>
            <a:r>
              <a:rPr lang="en-US" b="0" i="0" dirty="0">
                <a:solidFill>
                  <a:srgbClr val="212121"/>
                </a:solidFill>
                <a:effectLst/>
                <a:latin typeface="avenirltstd-light"/>
              </a:rPr>
              <a:t> With the proper framework in place, developers can significantly reduce the time needed for coding, as most of the basic tasks are already taken care of.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121"/>
                </a:solidFill>
                <a:effectLst/>
                <a:latin typeface="avenirltstd-light"/>
              </a:rPr>
              <a:t>Scalability and performance</a:t>
            </a:r>
            <a:r>
              <a:rPr lang="en-US" b="0" i="0" dirty="0">
                <a:solidFill>
                  <a:srgbClr val="212121"/>
                </a:solidFill>
                <a:effectLst/>
                <a:latin typeface="avenirltstd-light"/>
              </a:rPr>
              <a:t>: A framework will enable developers to scale their applications quickly and efficiently as the business requirements evolve. The right backend framework can also ensure high-performance levels on all devices, regardless of their size and network speed.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121"/>
                </a:solidFill>
                <a:effectLst/>
                <a:latin typeface="avenirltstd-light"/>
              </a:rPr>
              <a:t>Security</a:t>
            </a:r>
            <a:r>
              <a:rPr lang="en-US" b="0" i="0" dirty="0">
                <a:solidFill>
                  <a:srgbClr val="212121"/>
                </a:solidFill>
                <a:effectLst/>
                <a:latin typeface="avenirltstd-light"/>
              </a:rPr>
              <a:t>: Backend frameworks can provide a number of security measures, such as user authentication, encryption, and data validation.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121"/>
                </a:solidFill>
                <a:effectLst/>
                <a:latin typeface="avenirltstd-light"/>
              </a:rPr>
              <a:t>Cost-effectiveness:</a:t>
            </a:r>
            <a:r>
              <a:rPr lang="en-US" b="0" i="0" dirty="0">
                <a:solidFill>
                  <a:srgbClr val="212121"/>
                </a:solidFill>
                <a:effectLst/>
                <a:latin typeface="avenirltstd-light"/>
              </a:rPr>
              <a:t> Backend frameworks allow developers to save time on coding and significantly reduce development costs.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12121"/>
                </a:solidFill>
                <a:effectLst/>
                <a:latin typeface="avenirltstd-light"/>
              </a:rPr>
              <a:t>Time-Saving:</a:t>
            </a:r>
            <a:r>
              <a:rPr lang="en-US" b="0" i="0" dirty="0">
                <a:solidFill>
                  <a:srgbClr val="212121"/>
                </a:solidFill>
                <a:effectLst/>
                <a:latin typeface="avenirltstd-light"/>
              </a:rPr>
              <a:t> By automating mundane tasks, backend frameworks help developers save time and focus on the more complex aspects of development.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top of that, most of the frameworks are Open-Source.</a:t>
            </a:r>
          </a:p>
        </p:txBody>
      </p:sp>
    </p:spTree>
    <p:extLst>
      <p:ext uri="{BB962C8B-B14F-4D97-AF65-F5344CB8AC3E}">
        <p14:creationId xmlns:p14="http://schemas.microsoft.com/office/powerpoint/2010/main" val="3012333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877C4-AE45-4C75-8E00-2044FB2E1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best 10 backend frameworks for your web application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Taken from: </a:t>
            </a:r>
          </a:p>
          <a:p>
            <a:pPr marL="0" indent="0">
              <a:buNone/>
            </a:pPr>
            <a:r>
              <a:rPr lang="en-US" sz="2400" dirty="0"/>
              <a:t>https://blog.back4app.com/backend-frameworks/</a:t>
            </a:r>
          </a:p>
        </p:txBody>
      </p:sp>
    </p:spTree>
    <p:extLst>
      <p:ext uri="{BB962C8B-B14F-4D97-AF65-F5344CB8AC3E}">
        <p14:creationId xmlns:p14="http://schemas.microsoft.com/office/powerpoint/2010/main" val="5245253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068AF5-3204-F0E2-74A0-DA8D4B8F2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561301"/>
              </p:ext>
            </p:extLst>
          </p:nvPr>
        </p:nvGraphicFramePr>
        <p:xfrm>
          <a:off x="2728551" y="933529"/>
          <a:ext cx="6043524" cy="4351336"/>
        </p:xfrm>
        <a:graphic>
          <a:graphicData uri="http://schemas.openxmlformats.org/drawingml/2006/table">
            <a:tbl>
              <a:tblPr/>
              <a:tblGrid>
                <a:gridCol w="2014508">
                  <a:extLst>
                    <a:ext uri="{9D8B030D-6E8A-4147-A177-3AD203B41FA5}">
                      <a16:colId xmlns:a16="http://schemas.microsoft.com/office/drawing/2014/main" val="2571215218"/>
                    </a:ext>
                  </a:extLst>
                </a:gridCol>
                <a:gridCol w="2014508">
                  <a:extLst>
                    <a:ext uri="{9D8B030D-6E8A-4147-A177-3AD203B41FA5}">
                      <a16:colId xmlns:a16="http://schemas.microsoft.com/office/drawing/2014/main" val="3125414663"/>
                    </a:ext>
                  </a:extLst>
                </a:gridCol>
                <a:gridCol w="2014508">
                  <a:extLst>
                    <a:ext uri="{9D8B030D-6E8A-4147-A177-3AD203B41FA5}">
                      <a16:colId xmlns:a16="http://schemas.microsoft.com/office/drawing/2014/main" val="3018968376"/>
                    </a:ext>
                  </a:extLst>
                </a:gridCol>
              </a:tblGrid>
              <a:tr h="333211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effectLst/>
                        </a:rPr>
                        <a:t>Framework</a:t>
                      </a:r>
                      <a:endParaRPr lang="en-US" sz="1500" b="0" i="0">
                        <a:effectLst/>
                      </a:endParaRP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effectLst/>
                        </a:rPr>
                        <a:t>Programming Language</a:t>
                      </a:r>
                      <a:endParaRPr lang="en-US" sz="1500" b="0" i="0">
                        <a:effectLst/>
                      </a:endParaRP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effectLst/>
                        </a:rPr>
                        <a:t>Famous Use Cases</a:t>
                      </a:r>
                      <a:endParaRPr lang="en-US" sz="1500" b="0" i="0">
                        <a:effectLst/>
                      </a:endParaRP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747048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Django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Python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Instagram</a:t>
                      </a:r>
                      <a:br>
                        <a:rPr lang="en-US" sz="1500" b="0" i="0">
                          <a:effectLst/>
                        </a:rPr>
                      </a:br>
                      <a:r>
                        <a:rPr lang="en-US" sz="1500" b="0" i="0">
                          <a:effectLst/>
                        </a:rPr>
                        <a:t>Pinterest</a:t>
                      </a:r>
                      <a:br>
                        <a:rPr lang="en-US" sz="1500" b="0" i="0">
                          <a:effectLst/>
                        </a:rPr>
                      </a:br>
                      <a:r>
                        <a:rPr lang="en-US" sz="1500" b="0" i="0">
                          <a:effectLst/>
                        </a:rPr>
                        <a:t>Coursera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231464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ExpressJS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NodeJS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MySpace</a:t>
                      </a:r>
                      <a:br>
                        <a:rPr lang="en-US" sz="1500" b="0" i="0">
                          <a:effectLst/>
                        </a:rPr>
                      </a:br>
                      <a:r>
                        <a:rPr lang="en-US" sz="1500" b="0" i="0">
                          <a:effectLst/>
                        </a:rPr>
                        <a:t>GeekList</a:t>
                      </a:r>
                      <a:br>
                        <a:rPr lang="en-US" sz="1500" b="0" i="0">
                          <a:effectLst/>
                        </a:rPr>
                      </a:br>
                      <a:r>
                        <a:rPr lang="en-US" sz="1500" b="0" i="0">
                          <a:effectLst/>
                        </a:rPr>
                        <a:t>Storify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897087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Laravel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PHP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Deltanet Travel</a:t>
                      </a:r>
                      <a:br>
                        <a:rPr lang="en-US" sz="1500" b="0" i="0">
                          <a:effectLst/>
                        </a:rPr>
                      </a:br>
                      <a:r>
                        <a:rPr lang="en-US" sz="1500" b="0" i="0">
                          <a:effectLst/>
                        </a:rPr>
                        <a:t>Neighborhood Lender</a:t>
                      </a:r>
                      <a:br>
                        <a:rPr lang="en-US" sz="1500" b="0" i="0">
                          <a:effectLst/>
                        </a:rPr>
                      </a:br>
                      <a:r>
                        <a:rPr lang="en-US" sz="1500" b="0" i="0">
                          <a:effectLst/>
                        </a:rPr>
                        <a:t>MyRank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11668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Ruby on Rails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Ruby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ZendDesk</a:t>
                      </a:r>
                      <a:br>
                        <a:rPr lang="en-US" sz="1500" b="0" i="0">
                          <a:effectLst/>
                        </a:rPr>
                      </a:br>
                      <a:r>
                        <a:rPr lang="en-US" sz="1500" b="0" i="0">
                          <a:effectLst/>
                        </a:rPr>
                        <a:t>Shopify</a:t>
                      </a:r>
                      <a:br>
                        <a:rPr lang="en-US" sz="1500" b="0" i="0">
                          <a:effectLst/>
                        </a:rPr>
                      </a:br>
                      <a:r>
                        <a:rPr lang="en-US" sz="1500" b="0" i="0">
                          <a:effectLst/>
                        </a:rPr>
                        <a:t>GitHub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16047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CakePHP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>
                          <a:effectLst/>
                        </a:rPr>
                        <a:t>PHP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dirty="0" err="1">
                          <a:effectLst/>
                        </a:rPr>
                        <a:t>Mapme</a:t>
                      </a:r>
                      <a:br>
                        <a:rPr lang="en-US" sz="1500" b="0" i="0" dirty="0">
                          <a:effectLst/>
                        </a:rPr>
                      </a:br>
                      <a:r>
                        <a:rPr lang="en-US" sz="1500" b="0" i="0" dirty="0" err="1">
                          <a:effectLst/>
                        </a:rPr>
                        <a:t>Educationunlimited</a:t>
                      </a:r>
                      <a:br>
                        <a:rPr lang="en-US" sz="1500" b="0" i="0" dirty="0">
                          <a:effectLst/>
                        </a:rPr>
                      </a:br>
                      <a:r>
                        <a:rPr lang="en-US" sz="1500" b="0" i="0" dirty="0" err="1">
                          <a:effectLst/>
                        </a:rPr>
                        <a:t>Followmy</a:t>
                      </a:r>
                      <a:r>
                        <a:rPr lang="en-US" sz="1500" b="0" i="0" dirty="0">
                          <a:effectLst/>
                        </a:rPr>
                        <a:t> Tv</a:t>
                      </a: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846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1548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068AF5-3204-F0E2-74A0-DA8D4B8F2D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089360"/>
              </p:ext>
            </p:extLst>
          </p:nvPr>
        </p:nvGraphicFramePr>
        <p:xfrm>
          <a:off x="2728551" y="933529"/>
          <a:ext cx="6043524" cy="4885876"/>
        </p:xfrm>
        <a:graphic>
          <a:graphicData uri="http://schemas.openxmlformats.org/drawingml/2006/table">
            <a:tbl>
              <a:tblPr/>
              <a:tblGrid>
                <a:gridCol w="2014508">
                  <a:extLst>
                    <a:ext uri="{9D8B030D-6E8A-4147-A177-3AD203B41FA5}">
                      <a16:colId xmlns:a16="http://schemas.microsoft.com/office/drawing/2014/main" val="2571215218"/>
                    </a:ext>
                  </a:extLst>
                </a:gridCol>
                <a:gridCol w="2014508">
                  <a:extLst>
                    <a:ext uri="{9D8B030D-6E8A-4147-A177-3AD203B41FA5}">
                      <a16:colId xmlns:a16="http://schemas.microsoft.com/office/drawing/2014/main" val="3125414663"/>
                    </a:ext>
                  </a:extLst>
                </a:gridCol>
                <a:gridCol w="2014508">
                  <a:extLst>
                    <a:ext uri="{9D8B030D-6E8A-4147-A177-3AD203B41FA5}">
                      <a16:colId xmlns:a16="http://schemas.microsoft.com/office/drawing/2014/main" val="3018968376"/>
                    </a:ext>
                  </a:extLst>
                </a:gridCol>
              </a:tblGrid>
              <a:tr h="333211"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effectLst/>
                        </a:rPr>
                        <a:t>Framework</a:t>
                      </a:r>
                      <a:endParaRPr lang="en-US" sz="1500" b="0" i="0">
                        <a:effectLst/>
                      </a:endParaRP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effectLst/>
                        </a:rPr>
                        <a:t>Programming Language</a:t>
                      </a:r>
                      <a:endParaRPr lang="en-US" sz="1500" b="0" i="0">
                        <a:effectLst/>
                      </a:endParaRP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i="0">
                          <a:effectLst/>
                        </a:rPr>
                        <a:t>Famous Use Cases</a:t>
                      </a:r>
                      <a:endParaRPr lang="en-US" sz="1500" b="0" i="0">
                        <a:effectLst/>
                      </a:endParaRPr>
                    </a:p>
                  </a:txBody>
                  <a:tcPr marL="49002" marR="49002" marT="49002" marB="49002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747048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Flask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Python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Red Hat</a:t>
                      </a:r>
                      <a:br>
                        <a:rPr lang="en-US" b="0" i="0">
                          <a:effectLst/>
                        </a:rPr>
                      </a:br>
                      <a:r>
                        <a:rPr lang="en-US" b="0" i="0">
                          <a:effectLst/>
                        </a:rPr>
                        <a:t>Rackspace</a:t>
                      </a:r>
                      <a:br>
                        <a:rPr lang="en-US" b="0" i="0">
                          <a:effectLst/>
                        </a:rPr>
                      </a:br>
                      <a:r>
                        <a:rPr lang="en-US" b="0" i="0">
                          <a:effectLst/>
                        </a:rPr>
                        <a:t>Reddit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7231464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Asp .NET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C#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Microsoft</a:t>
                      </a:r>
                      <a:br>
                        <a:rPr lang="en-US" b="0" i="0">
                          <a:effectLst/>
                        </a:rPr>
                      </a:br>
                      <a:r>
                        <a:rPr lang="en-US" b="0" i="0">
                          <a:effectLst/>
                        </a:rPr>
                        <a:t>Godaddy</a:t>
                      </a:r>
                      <a:br>
                        <a:rPr lang="en-US" b="0" i="0">
                          <a:effectLst/>
                        </a:rPr>
                      </a:br>
                      <a:r>
                        <a:rPr lang="en-US" b="0" i="0">
                          <a:effectLst/>
                        </a:rPr>
                        <a:t>Ancestry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897087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Spring Boot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Java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Trivago</a:t>
                      </a:r>
                      <a:br>
                        <a:rPr lang="en-US" b="0" i="0">
                          <a:effectLst/>
                        </a:rPr>
                      </a:br>
                      <a:r>
                        <a:rPr lang="en-US" b="0" i="0">
                          <a:effectLst/>
                        </a:rPr>
                        <a:t>Via Varejo</a:t>
                      </a:r>
                      <a:br>
                        <a:rPr lang="en-US" b="0" i="0">
                          <a:effectLst/>
                        </a:rPr>
                      </a:br>
                      <a:r>
                        <a:rPr lang="en-US" b="0" i="0">
                          <a:effectLst/>
                        </a:rPr>
                        <a:t>Intuit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1511668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Koa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NodeJS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–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16047"/>
                  </a:ext>
                </a:extLst>
              </a:tr>
              <a:tr h="803625"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Phoenix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effectLst/>
                        </a:rPr>
                        <a:t>Elixir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effectLst/>
                        </a:rPr>
                        <a:t>Financial Times</a:t>
                      </a:r>
                      <a:br>
                        <a:rPr lang="en-US" b="0" i="0" dirty="0">
                          <a:effectLst/>
                        </a:rPr>
                      </a:br>
                      <a:r>
                        <a:rPr lang="en-US" b="0" i="0" dirty="0">
                          <a:effectLst/>
                        </a:rPr>
                        <a:t>Fox 10</a:t>
                      </a:r>
                      <a:br>
                        <a:rPr lang="en-US" b="0" i="0" dirty="0">
                          <a:effectLst/>
                        </a:rPr>
                      </a:br>
                      <a:r>
                        <a:rPr lang="en-US" b="0" i="0" dirty="0">
                          <a:effectLst/>
                        </a:rPr>
                        <a:t>ABC15</a:t>
                      </a:r>
                    </a:p>
                  </a:txBody>
                  <a:tcPr marL="57150" marR="57150" marT="57150" marB="57150" anchor="ctr">
                    <a:lnL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846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86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707</Words>
  <Application>Microsoft Office PowerPoint</Application>
  <PresentationFormat>Widescreen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avenirltstd-light</vt:lpstr>
      <vt:lpstr>Calibri</vt:lpstr>
      <vt:lpstr>Calibri Light</vt:lpstr>
      <vt:lpstr>TradeGothicNextW01-Ligh 693250</vt:lpstr>
      <vt:lpstr>Office Theme</vt:lpstr>
      <vt:lpstr>Frameworks</vt:lpstr>
      <vt:lpstr>Framework</vt:lpstr>
      <vt:lpstr>Difference between a Framework and a Library</vt:lpstr>
      <vt:lpstr>Library</vt:lpstr>
      <vt:lpstr>Framework</vt:lpstr>
      <vt:lpstr>Technical difference</vt:lpstr>
      <vt:lpstr>PowerPoint Presentation</vt:lpstr>
      <vt:lpstr>Backend</vt:lpstr>
      <vt:lpstr>Frontend</vt:lpstr>
      <vt:lpstr>The core advantages of using a framework for development are: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Duce, Patricia</dc:creator>
  <cp:lastModifiedBy>Duce, Patricia</cp:lastModifiedBy>
  <cp:revision>6</cp:revision>
  <dcterms:created xsi:type="dcterms:W3CDTF">2020-11-06T16:06:07Z</dcterms:created>
  <dcterms:modified xsi:type="dcterms:W3CDTF">2023-08-24T00:22:40Z</dcterms:modified>
</cp:coreProperties>
</file>